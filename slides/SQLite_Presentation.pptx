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6" r:id="rId1"/>
  </p:sldMasterIdLst>
  <p:sldIdLst>
    <p:sldId id="256" r:id="rId2"/>
    <p:sldId id="257" r:id="rId3"/>
    <p:sldId id="263" r:id="rId4"/>
    <p:sldId id="276" r:id="rId5"/>
    <p:sldId id="258" r:id="rId6"/>
    <p:sldId id="259" r:id="rId7"/>
    <p:sldId id="274" r:id="rId8"/>
    <p:sldId id="278" r:id="rId9"/>
    <p:sldId id="271" r:id="rId10"/>
    <p:sldId id="269" r:id="rId11"/>
    <p:sldId id="277" r:id="rId12"/>
    <p:sldId id="264" r:id="rId13"/>
    <p:sldId id="275" r:id="rId14"/>
    <p:sldId id="28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CEE9CA-F2A9-2414-AC66-82CCBC420B10}" v="365" dt="2024-04-08T15:19:27.739"/>
    <p1510:client id="{A2D85400-FED2-D743-D111-9EE5CD02998B}" v="20" dt="2024-04-08T09:51:39.0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2432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72331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49743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47012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6917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49438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87223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82212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36570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59706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74292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4/8/2024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016767819"/>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160;https:/sqlitebrowser.org"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slideplayer.com/slide/12248075/" TargetMode="External"/><Relationship Id="rId3" Type="http://schemas.openxmlformats.org/officeDocument/2006/relationships/hyperlink" Target="https://en.wikipedia.org/wiki/SQLite" TargetMode="External"/><Relationship Id="rId7" Type="http://schemas.openxmlformats.org/officeDocument/2006/relationships/hyperlink" Target="https://www.slideshare.net/emanuelebartolesi/sqlite-overview" TargetMode="External"/><Relationship Id="rId12" Type="http://schemas.openxmlformats.org/officeDocument/2006/relationships/hyperlink" Target="https://www.simplilearn.com/tutorials/sql-tutorial/what-is-sqlite" TargetMode="External"/><Relationship Id="rId2" Type="http://schemas.openxmlformats.org/officeDocument/2006/relationships/hyperlink" Target="https://www.sqlite.org/" TargetMode="External"/><Relationship Id="rId1" Type="http://schemas.openxmlformats.org/officeDocument/2006/relationships/slideLayout" Target="../slideLayouts/slideLayout2.xml"/><Relationship Id="rId6" Type="http://schemas.openxmlformats.org/officeDocument/2006/relationships/hyperlink" Target="https://www.tutorialspoint.com/sqlite/sqlite_overview.htm" TargetMode="External"/><Relationship Id="rId11" Type="http://schemas.openxmlformats.org/officeDocument/2006/relationships/hyperlink" Target="https://www.sqlitetutorial.net/" TargetMode="External"/><Relationship Id="rId5" Type="http://schemas.openxmlformats.org/officeDocument/2006/relationships/hyperlink" Target="https://www.geeksforgeeks.org/introduction-to-sqlite/" TargetMode="External"/><Relationship Id="rId10" Type="http://schemas.openxmlformats.org/officeDocument/2006/relationships/hyperlink" Target="https://www.slideshare.net/MaheshSharma38/a-brief-introduction-to-sqlite-ppt" TargetMode="External"/><Relationship Id="rId4" Type="http://schemas.openxmlformats.org/officeDocument/2006/relationships/hyperlink" Target="https://www.codecademy.com/article/what-is-sqlite" TargetMode="External"/><Relationship Id="rId9" Type="http://schemas.openxmlformats.org/officeDocument/2006/relationships/hyperlink" Target="https://www.slideshare.net/slideshow/sqlite-44918931/449189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SQLite </a:t>
            </a:r>
          </a:p>
        </p:txBody>
      </p:sp>
      <p:pic>
        <p:nvPicPr>
          <p:cNvPr id="10" name="Graphic 9">
            <a:extLst>
              <a:ext uri="{FF2B5EF4-FFF2-40B4-BE49-F238E27FC236}">
                <a16:creationId xmlns:a16="http://schemas.microsoft.com/office/drawing/2014/main" id="{69380D67-9F7C-C23C-753F-0506378290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624" y="384969"/>
            <a:ext cx="3100349" cy="1483943"/>
          </a:xfrm>
          <a:prstGeom prst="rect">
            <a:avLst/>
          </a:prstGeom>
        </p:spPr>
      </p:pic>
      <p:pic>
        <p:nvPicPr>
          <p:cNvPr id="12" name="Graphic 11">
            <a:extLst>
              <a:ext uri="{FF2B5EF4-FFF2-40B4-BE49-F238E27FC236}">
                <a16:creationId xmlns:a16="http://schemas.microsoft.com/office/drawing/2014/main" id="{CF4CAD8D-CA7C-7AC6-13B5-E0ED50B07F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83297" y="4460571"/>
            <a:ext cx="1376924" cy="1371079"/>
          </a:xfrm>
          <a:prstGeom prst="rect">
            <a:avLst/>
          </a:prstGeom>
        </p:spPr>
      </p:pic>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F4EA-F15C-CAEC-38F5-C74C6C74FF31}"/>
              </a:ext>
            </a:extLst>
          </p:cNvPr>
          <p:cNvSpPr>
            <a:spLocks noGrp="1"/>
          </p:cNvSpPr>
          <p:nvPr>
            <p:ph type="title"/>
          </p:nvPr>
        </p:nvSpPr>
        <p:spPr/>
        <p:txBody>
          <a:bodyPr>
            <a:normAutofit/>
          </a:bodyPr>
          <a:lstStyle/>
          <a:p>
            <a:r>
              <a:rPr lang="en-US" sz="4000" dirty="0">
                <a:ea typeface="+mj-lt"/>
                <a:cs typeface="+mj-lt"/>
              </a:rPr>
              <a:t>What is SQLite</a:t>
            </a:r>
            <a:endParaRPr lang="en-US" sz="4000" dirty="0"/>
          </a:p>
        </p:txBody>
      </p:sp>
      <p:sp>
        <p:nvSpPr>
          <p:cNvPr id="3" name="Content Placeholder 2">
            <a:extLst>
              <a:ext uri="{FF2B5EF4-FFF2-40B4-BE49-F238E27FC236}">
                <a16:creationId xmlns:a16="http://schemas.microsoft.com/office/drawing/2014/main" id="{8A869BBA-9B99-D8CF-B0B1-24ED3CF1EF27}"/>
              </a:ext>
            </a:extLst>
          </p:cNvPr>
          <p:cNvSpPr>
            <a:spLocks noGrp="1"/>
          </p:cNvSpPr>
          <p:nvPr>
            <p:ph idx="1"/>
          </p:nvPr>
        </p:nvSpPr>
        <p:spPr/>
        <p:txBody>
          <a:bodyPr vert="horz" lIns="91440" tIns="45720" rIns="91440" bIns="45720" rtlCol="0" anchor="t">
            <a:normAutofit/>
          </a:bodyPr>
          <a:lstStyle/>
          <a:p>
            <a:pPr marL="0" indent="0">
              <a:buNone/>
            </a:pPr>
            <a:r>
              <a:rPr lang="en-US" sz="2200" dirty="0">
                <a:latin typeface="Aptos Display"/>
                <a:ea typeface="+mn-lt"/>
                <a:cs typeface="+mn-lt"/>
              </a:rPr>
              <a:t>SQLite is an embedded, server-less relational database management system. </a:t>
            </a:r>
          </a:p>
          <a:p>
            <a:pPr marL="0" indent="0">
              <a:buNone/>
            </a:pPr>
            <a:r>
              <a:rPr lang="en-US" sz="2200" dirty="0">
                <a:latin typeface="Aptos Display"/>
                <a:ea typeface="+mn-lt"/>
                <a:cs typeface="+mn-lt"/>
              </a:rPr>
              <a:t>It is an in-memory open-source library with zero configuration and does not require any installation. </a:t>
            </a:r>
          </a:p>
          <a:p>
            <a:pPr marL="0" indent="0">
              <a:buNone/>
            </a:pPr>
            <a:r>
              <a:rPr lang="en-US" sz="2200" dirty="0">
                <a:ea typeface="+mn-lt"/>
                <a:cs typeface="+mn-lt"/>
              </a:rPr>
              <a:t>In SQLite, a database is stored in a single file - a trait that distinguishes it from other database engines. This fact allows for a great deal of accessibility: copying a database is no more complicated than copying the file that stores the data, sharing a database can mean sending an email attachment.</a:t>
            </a:r>
            <a:endParaRPr lang="en-US" dirty="0"/>
          </a:p>
          <a:p>
            <a:pPr marL="0" indent="0">
              <a:buNone/>
            </a:pPr>
            <a:r>
              <a:rPr lang="en-US" sz="2200" dirty="0">
                <a:ea typeface="+mn-lt"/>
                <a:cs typeface="+mn-lt"/>
              </a:rPr>
              <a:t>One of the main benefits of using SQLite is that it is very easy to get started with. To create a new database in SQLite, you simply need to create a new file on your filesystem and connect to it using the sqlite3 API. </a:t>
            </a:r>
            <a:endParaRPr lang="en-US" dirty="0"/>
          </a:p>
          <a:p>
            <a:endParaRPr lang="en-US" sz="2200">
              <a:latin typeface="Aptos"/>
              <a:ea typeface="Verdana"/>
            </a:endParaRPr>
          </a:p>
          <a:p>
            <a:endParaRPr lang="en-US" sz="2200">
              <a:latin typeface="Aptos Display"/>
              <a:ea typeface="Verdana"/>
            </a:endParaRPr>
          </a:p>
        </p:txBody>
      </p:sp>
      <p:sp>
        <p:nvSpPr>
          <p:cNvPr id="58" name="Slide Number Placeholder 57">
            <a:extLst>
              <a:ext uri="{FF2B5EF4-FFF2-40B4-BE49-F238E27FC236}">
                <a16:creationId xmlns:a16="http://schemas.microsoft.com/office/drawing/2014/main" id="{9D1F2A89-CA7C-24E7-EE8E-70C7C72843A1}"/>
              </a:ext>
            </a:extLst>
          </p:cNvPr>
          <p:cNvSpPr>
            <a:spLocks noGrp="1"/>
          </p:cNvSpPr>
          <p:nvPr>
            <p:ph type="sldNum" sz="quarter" idx="12"/>
          </p:nvPr>
        </p:nvSpPr>
        <p:spPr/>
        <p:txBody>
          <a:bodyPr/>
          <a:lstStyle/>
          <a:p>
            <a:fld id="{48F63A3B-78C7-47BE-AE5E-E10140E04643}" type="slidenum">
              <a:rPr lang="en-US" dirty="0"/>
              <a:t>2</a:t>
            </a:fld>
            <a:endParaRPr lang="en-US" dirty="0"/>
          </a:p>
        </p:txBody>
      </p:sp>
    </p:spTree>
    <p:extLst>
      <p:ext uri="{BB962C8B-B14F-4D97-AF65-F5344CB8AC3E}">
        <p14:creationId xmlns:p14="http://schemas.microsoft.com/office/powerpoint/2010/main" val="2487608497"/>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84D8-CA13-37F2-0D28-B899C378BA3A}"/>
              </a:ext>
            </a:extLst>
          </p:cNvPr>
          <p:cNvSpPr>
            <a:spLocks noGrp="1"/>
          </p:cNvSpPr>
          <p:nvPr>
            <p:ph type="title"/>
          </p:nvPr>
        </p:nvSpPr>
        <p:spPr/>
        <p:txBody>
          <a:bodyPr>
            <a:normAutofit/>
          </a:bodyPr>
          <a:lstStyle/>
          <a:p>
            <a:r>
              <a:rPr lang="en-US" sz="4000" dirty="0"/>
              <a:t>History</a:t>
            </a:r>
          </a:p>
        </p:txBody>
      </p:sp>
      <p:sp>
        <p:nvSpPr>
          <p:cNvPr id="3" name="Content Placeholder 2">
            <a:extLst>
              <a:ext uri="{FF2B5EF4-FFF2-40B4-BE49-F238E27FC236}">
                <a16:creationId xmlns:a16="http://schemas.microsoft.com/office/drawing/2014/main" id="{50B223CE-D148-27AF-B071-DDB986ED8D72}"/>
              </a:ext>
            </a:extLst>
          </p:cNvPr>
          <p:cNvSpPr>
            <a:spLocks noGrp="1"/>
          </p:cNvSpPr>
          <p:nvPr>
            <p:ph idx="1"/>
          </p:nvPr>
        </p:nvSpPr>
        <p:spPr/>
        <p:txBody>
          <a:bodyPr vert="horz" lIns="91440" tIns="45720" rIns="91440" bIns="45720" rtlCol="0" anchor="t">
            <a:normAutofit/>
          </a:bodyPr>
          <a:lstStyle/>
          <a:p>
            <a:r>
              <a:rPr lang="en-US" sz="2200" dirty="0">
                <a:solidFill>
                  <a:srgbClr val="000000"/>
                </a:solidFill>
                <a:ea typeface="+mn-lt"/>
                <a:cs typeface="+mn-lt"/>
              </a:rPr>
              <a:t>2000 -  In the spring 2000, D. Richard Hipp designed SQLite while working for General Dynamics on contract with the United States Navy.</a:t>
            </a:r>
            <a:endParaRPr lang="en-US" sz="2200" dirty="0"/>
          </a:p>
          <a:p>
            <a:pPr marL="0" indent="0">
              <a:buNone/>
            </a:pPr>
            <a:r>
              <a:rPr lang="en-US" sz="2200" dirty="0">
                <a:solidFill>
                  <a:srgbClr val="000000"/>
                </a:solidFill>
                <a:ea typeface="+mn-lt"/>
                <a:cs typeface="+mn-lt"/>
              </a:rPr>
              <a:t>Hipp was designing software used for a damage-control system aboard guided-missile destroyers. </a:t>
            </a:r>
            <a:endParaRPr lang="en-US" sz="2200" dirty="0">
              <a:solidFill>
                <a:srgbClr val="000000"/>
              </a:solidFill>
              <a:ea typeface="Verdana"/>
              <a:cs typeface="+mn-lt"/>
            </a:endParaRPr>
          </a:p>
          <a:p>
            <a:pPr marL="0" indent="0">
              <a:buNone/>
            </a:pPr>
            <a:endParaRPr lang="en-US" sz="2200">
              <a:solidFill>
                <a:srgbClr val="000000"/>
              </a:solidFill>
              <a:ea typeface="+mn-lt"/>
              <a:cs typeface="+mn-lt"/>
            </a:endParaRPr>
          </a:p>
          <a:p>
            <a:r>
              <a:rPr lang="en-US" sz="2200" dirty="0">
                <a:solidFill>
                  <a:srgbClr val="000000"/>
                </a:solidFill>
                <a:ea typeface="+mn-lt"/>
                <a:cs typeface="+mn-lt"/>
              </a:rPr>
              <a:t>2000 -</a:t>
            </a:r>
            <a:r>
              <a:rPr lang="en-US" sz="2200" dirty="0">
                <a:solidFill>
                  <a:srgbClr val="000000"/>
                </a:solidFill>
                <a:latin typeface="Aptos"/>
                <a:ea typeface="Verdana"/>
              </a:rPr>
              <a:t> First Release: Version 1.0 (</a:t>
            </a:r>
            <a:r>
              <a:rPr lang="en-US" sz="2200" dirty="0">
                <a:solidFill>
                  <a:srgbClr val="000000"/>
                </a:solidFill>
                <a:ea typeface="+mn-lt"/>
                <a:cs typeface="+mn-lt"/>
              </a:rPr>
              <a:t>2000-08-17</a:t>
            </a:r>
            <a:r>
              <a:rPr lang="en-US" sz="2200" dirty="0">
                <a:solidFill>
                  <a:srgbClr val="000000"/>
                </a:solidFill>
                <a:latin typeface="Aptos"/>
                <a:ea typeface="Verdana"/>
              </a:rPr>
              <a:t>).</a:t>
            </a:r>
          </a:p>
          <a:p>
            <a:endParaRPr lang="en-US" sz="2200">
              <a:ea typeface="Verdana"/>
              <a:cs typeface="+mn-lt"/>
            </a:endParaRPr>
          </a:p>
          <a:p>
            <a:r>
              <a:rPr lang="en-US" sz="2200" dirty="0">
                <a:ea typeface="+mn-lt"/>
                <a:cs typeface="+mn-lt"/>
              </a:rPr>
              <a:t>2024 - Latest Release: Version 3.45.2 (2024-03-12).</a:t>
            </a:r>
            <a:endParaRPr lang="en-US" sz="2200" dirty="0">
              <a:ea typeface="Verdana"/>
            </a:endParaRPr>
          </a:p>
          <a:p>
            <a:endParaRPr lang="en-US" sz="2200">
              <a:ea typeface="Verdana"/>
            </a:endParaRPr>
          </a:p>
          <a:p>
            <a:endParaRPr lang="en-US" sz="2200">
              <a:ea typeface="Verdana"/>
            </a:endParaRPr>
          </a:p>
        </p:txBody>
      </p:sp>
      <p:sp>
        <p:nvSpPr>
          <p:cNvPr id="13" name="Slide Number Placeholder 12">
            <a:extLst>
              <a:ext uri="{FF2B5EF4-FFF2-40B4-BE49-F238E27FC236}">
                <a16:creationId xmlns:a16="http://schemas.microsoft.com/office/drawing/2014/main" id="{7E28B04E-C506-F07A-AE98-3EF6F49D779F}"/>
              </a:ext>
            </a:extLst>
          </p:cNvPr>
          <p:cNvSpPr>
            <a:spLocks noGrp="1"/>
          </p:cNvSpPr>
          <p:nvPr>
            <p:ph type="sldNum" sz="quarter" idx="12"/>
          </p:nvPr>
        </p:nvSpPr>
        <p:spPr/>
        <p:txBody>
          <a:bodyPr/>
          <a:lstStyle/>
          <a:p>
            <a:fld id="{48F63A3B-78C7-47BE-AE5E-E10140E04643}" type="slidenum">
              <a:rPr lang="en-US" dirty="0"/>
              <a:t>3</a:t>
            </a:fld>
            <a:endParaRPr lang="en-US"/>
          </a:p>
        </p:txBody>
      </p:sp>
    </p:spTree>
    <p:extLst>
      <p:ext uri="{BB962C8B-B14F-4D97-AF65-F5344CB8AC3E}">
        <p14:creationId xmlns:p14="http://schemas.microsoft.com/office/powerpoint/2010/main" val="2156583528"/>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84D8-CA13-37F2-0D28-B899C378BA3A}"/>
              </a:ext>
            </a:extLst>
          </p:cNvPr>
          <p:cNvSpPr>
            <a:spLocks noGrp="1"/>
          </p:cNvSpPr>
          <p:nvPr>
            <p:ph type="title"/>
          </p:nvPr>
        </p:nvSpPr>
        <p:spPr/>
        <p:txBody>
          <a:bodyPr vert="horz" lIns="91440" tIns="45720" rIns="91440" bIns="45720" rtlCol="0" anchor="ctr">
            <a:noAutofit/>
          </a:bodyPr>
          <a:lstStyle/>
          <a:p>
            <a:br>
              <a:rPr lang="en-US" sz="4000"/>
            </a:br>
            <a:r>
              <a:rPr lang="en-US" sz="4000">
                <a:solidFill>
                  <a:srgbClr val="000000"/>
                </a:solidFill>
              </a:rPr>
              <a:t>SQLite History</a:t>
            </a:r>
            <a:endParaRPr lang="en-US" sz="4000"/>
          </a:p>
          <a:p>
            <a:endParaRPr lang="en-US" sz="4000"/>
          </a:p>
        </p:txBody>
      </p:sp>
      <p:sp>
        <p:nvSpPr>
          <p:cNvPr id="3" name="Content Placeholder 2">
            <a:extLst>
              <a:ext uri="{FF2B5EF4-FFF2-40B4-BE49-F238E27FC236}">
                <a16:creationId xmlns:a16="http://schemas.microsoft.com/office/drawing/2014/main" id="{50B223CE-D148-27AF-B071-DDB986ED8D72}"/>
              </a:ext>
            </a:extLst>
          </p:cNvPr>
          <p:cNvSpPr>
            <a:spLocks noGrp="1"/>
          </p:cNvSpPr>
          <p:nvPr>
            <p:ph idx="1"/>
          </p:nvPr>
        </p:nvSpPr>
        <p:spPr/>
        <p:txBody>
          <a:bodyPr vert="horz" lIns="91440" tIns="45720" rIns="91440" bIns="45720" rtlCol="0" anchor="t">
            <a:normAutofit/>
          </a:bodyPr>
          <a:lstStyle/>
          <a:p>
            <a:r>
              <a:rPr lang="en-US" sz="2200">
                <a:solidFill>
                  <a:srgbClr val="000000"/>
                </a:solidFill>
                <a:ea typeface="+mn-lt"/>
                <a:cs typeface="+mn-lt"/>
              </a:rPr>
              <a:t>SQLite was designed to be a lightweight and simple database engine that could be easily embedded into other applications. It was created as an alternative to more complex and heavyweight database engines, such as MySQL and PostgreSQL. Over the years, SQLite has gained widespread adoption and is now one of the most widely used database engines in the world. It is used in many applications, including web browsers, mobile phones, and a wide variety of other software.</a:t>
            </a:r>
          </a:p>
          <a:p>
            <a:r>
              <a:rPr lang="en-US" sz="2200">
                <a:solidFill>
                  <a:srgbClr val="000000"/>
                </a:solidFill>
                <a:ea typeface="+mn-lt"/>
                <a:cs typeface="+mn-lt"/>
              </a:rPr>
              <a:t>SQLite is an open-source software project, and the source code is available under the terms of the SQLite license, which is a permissive, public domain-like license. This has contributed to its widespread adoption, as developers are free to use and modify the source code as they see fit.</a:t>
            </a:r>
            <a:endParaRPr lang="en-US" sz="2200">
              <a:solidFill>
                <a:srgbClr val="000000"/>
              </a:solidFill>
            </a:endParaRPr>
          </a:p>
        </p:txBody>
      </p:sp>
      <p:sp>
        <p:nvSpPr>
          <p:cNvPr id="6" name="Slide Number Placeholder 5">
            <a:extLst>
              <a:ext uri="{FF2B5EF4-FFF2-40B4-BE49-F238E27FC236}">
                <a16:creationId xmlns:a16="http://schemas.microsoft.com/office/drawing/2014/main" id="{937BE8B0-CBC4-7381-BBA9-494A08344A84}"/>
              </a:ext>
            </a:extLst>
          </p:cNvPr>
          <p:cNvSpPr>
            <a:spLocks noGrp="1"/>
          </p:cNvSpPr>
          <p:nvPr>
            <p:ph type="sldNum" sz="quarter" idx="12"/>
          </p:nvPr>
        </p:nvSpPr>
        <p:spPr/>
        <p:txBody>
          <a:bodyPr/>
          <a:lstStyle/>
          <a:p>
            <a:fld id="{48F63A3B-78C7-47BE-AE5E-E10140E04643}" type="slidenum">
              <a:rPr lang="en-US" dirty="0"/>
              <a:t>4</a:t>
            </a:fld>
            <a:endParaRPr lang="en-US"/>
          </a:p>
        </p:txBody>
      </p:sp>
    </p:spTree>
    <p:extLst>
      <p:ext uri="{BB962C8B-B14F-4D97-AF65-F5344CB8AC3E}">
        <p14:creationId xmlns:p14="http://schemas.microsoft.com/office/powerpoint/2010/main" val="3875835996"/>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3F4EA-F15C-CAEC-38F5-C74C6C74FF31}"/>
              </a:ext>
            </a:extLst>
          </p:cNvPr>
          <p:cNvSpPr>
            <a:spLocks noGrp="1"/>
          </p:cNvSpPr>
          <p:nvPr>
            <p:ph type="title"/>
          </p:nvPr>
        </p:nvSpPr>
        <p:spPr/>
        <p:txBody>
          <a:bodyPr>
            <a:normAutofit/>
          </a:bodyPr>
          <a:lstStyle/>
          <a:p>
            <a:r>
              <a:rPr lang="en-US" sz="4000" dirty="0"/>
              <a:t>Features of SQLite:</a:t>
            </a:r>
          </a:p>
        </p:txBody>
      </p:sp>
      <p:sp>
        <p:nvSpPr>
          <p:cNvPr id="3" name="Content Placeholder 2">
            <a:extLst>
              <a:ext uri="{FF2B5EF4-FFF2-40B4-BE49-F238E27FC236}">
                <a16:creationId xmlns:a16="http://schemas.microsoft.com/office/drawing/2014/main" id="{8A869BBA-9B99-D8CF-B0B1-24ED3CF1EF27}"/>
              </a:ext>
            </a:extLst>
          </p:cNvPr>
          <p:cNvSpPr>
            <a:spLocks noGrp="1"/>
          </p:cNvSpPr>
          <p:nvPr>
            <p:ph idx="1"/>
          </p:nvPr>
        </p:nvSpPr>
        <p:spPr/>
        <p:txBody>
          <a:bodyPr vert="horz" lIns="91440" tIns="45720" rIns="91440" bIns="45720" rtlCol="0" anchor="t">
            <a:normAutofit/>
          </a:bodyPr>
          <a:lstStyle/>
          <a:p>
            <a:r>
              <a:rPr lang="en-US" sz="2000" dirty="0">
                <a:solidFill>
                  <a:srgbClr val="000000"/>
                </a:solidFill>
                <a:ea typeface="+mn-lt"/>
                <a:cs typeface="+mn-lt"/>
              </a:rPr>
              <a:t>ACID (atomic, consistent, isolated, and durable) transactions  - The transactions follow ACID  properties i.e. atomicity, consistency, isolation, and durability even after system crashes and power failures.</a:t>
            </a:r>
          </a:p>
          <a:p>
            <a:r>
              <a:rPr lang="en-US" sz="2000" dirty="0">
                <a:solidFill>
                  <a:srgbClr val="000000"/>
                </a:solidFill>
                <a:ea typeface="+mn-lt"/>
                <a:cs typeface="+mn-lt"/>
              </a:rPr>
              <a:t>Zero-configuration: no setup or administration is needed.</a:t>
            </a:r>
          </a:p>
          <a:p>
            <a:r>
              <a:rPr lang="en-US" sz="2000" dirty="0">
                <a:solidFill>
                  <a:srgbClr val="000000"/>
                </a:solidFill>
                <a:ea typeface="+mn-lt"/>
                <a:cs typeface="+mn-lt"/>
              </a:rPr>
              <a:t>Implements most of SQL92.</a:t>
            </a:r>
          </a:p>
          <a:p>
            <a:r>
              <a:rPr lang="en-US" sz="2000" dirty="0">
                <a:solidFill>
                  <a:srgbClr val="000000"/>
                </a:solidFill>
                <a:ea typeface="+mn-lt"/>
                <a:cs typeface="+mn-lt"/>
              </a:rPr>
              <a:t>Complete database is stored in a single file.</a:t>
            </a:r>
          </a:p>
          <a:p>
            <a:r>
              <a:rPr lang="en-US" sz="2000" dirty="0">
                <a:solidFill>
                  <a:srgbClr val="000000"/>
                </a:solidFill>
                <a:ea typeface="+mn-lt"/>
                <a:cs typeface="+mn-lt"/>
              </a:rPr>
              <a:t>Supports terabyte-sized databases and gigabyte-sized strings and blobs.</a:t>
            </a:r>
          </a:p>
          <a:p>
            <a:r>
              <a:rPr lang="en-US" sz="2000" dirty="0">
                <a:ea typeface="+mn-lt"/>
                <a:cs typeface="+mn-lt"/>
              </a:rPr>
              <a:t>Small and lightweight: </a:t>
            </a:r>
            <a:r>
              <a:rPr lang="en-US" sz="2000" dirty="0">
                <a:solidFill>
                  <a:srgbClr val="000000"/>
                </a:solidFill>
                <a:ea typeface="+mn-lt"/>
                <a:cs typeface="+mn-lt"/>
              </a:rPr>
              <a:t>Starting size of the file/</a:t>
            </a:r>
            <a:r>
              <a:rPr lang="en-US" sz="2000" dirty="0" err="1">
                <a:solidFill>
                  <a:srgbClr val="000000"/>
                </a:solidFill>
                <a:ea typeface="+mn-lt"/>
                <a:cs typeface="+mn-lt"/>
              </a:rPr>
              <a:t>db</a:t>
            </a:r>
            <a:r>
              <a:rPr lang="en-US" sz="2000" dirty="0">
                <a:solidFill>
                  <a:srgbClr val="000000"/>
                </a:solidFill>
                <a:ea typeface="+mn-lt"/>
                <a:cs typeface="+mn-lt"/>
              </a:rPr>
              <a:t> is less than 1MB  (~ 400kb). </a:t>
            </a:r>
            <a:endParaRPr lang="en-US" sz="2000" dirty="0">
              <a:solidFill>
                <a:srgbClr val="FF0000"/>
              </a:solidFill>
              <a:ea typeface="+mn-lt"/>
              <a:cs typeface="+mn-lt"/>
            </a:endParaRPr>
          </a:p>
          <a:p>
            <a:r>
              <a:rPr lang="en-US" sz="2000" dirty="0">
                <a:solidFill>
                  <a:srgbClr val="000000"/>
                </a:solidFill>
                <a:ea typeface="+mn-lt"/>
                <a:cs typeface="+mn-lt"/>
              </a:rPr>
              <a:t>Self-contained: no external dependencies.</a:t>
            </a:r>
          </a:p>
          <a:p>
            <a:r>
              <a:rPr lang="en-US" sz="2000" dirty="0">
                <a:solidFill>
                  <a:srgbClr val="000000"/>
                </a:solidFill>
                <a:ea typeface="+mn-lt"/>
                <a:cs typeface="+mn-lt"/>
              </a:rPr>
              <a:t>Open source: C source code is in the public domain. </a:t>
            </a:r>
          </a:p>
          <a:p>
            <a:r>
              <a:rPr lang="en-US" sz="2000" dirty="0">
                <a:ea typeface="+mn-lt"/>
                <a:cs typeface="+mn-lt"/>
              </a:rPr>
              <a:t>Cross-platform</a:t>
            </a:r>
            <a:endParaRPr lang="en-US" sz="2000" dirty="0"/>
          </a:p>
        </p:txBody>
      </p:sp>
      <p:sp>
        <p:nvSpPr>
          <p:cNvPr id="37" name="Slide Number Placeholder 36">
            <a:extLst>
              <a:ext uri="{FF2B5EF4-FFF2-40B4-BE49-F238E27FC236}">
                <a16:creationId xmlns:a16="http://schemas.microsoft.com/office/drawing/2014/main" id="{02028154-2262-B801-7A16-553FADAB9B32}"/>
              </a:ext>
            </a:extLst>
          </p:cNvPr>
          <p:cNvSpPr>
            <a:spLocks noGrp="1"/>
          </p:cNvSpPr>
          <p:nvPr>
            <p:ph type="sldNum" sz="quarter" idx="12"/>
          </p:nvPr>
        </p:nvSpPr>
        <p:spPr/>
        <p:txBody>
          <a:bodyPr/>
          <a:lstStyle/>
          <a:p>
            <a:fld id="{48F63A3B-78C7-47BE-AE5E-E10140E04643}" type="slidenum">
              <a:rPr lang="en-US" dirty="0"/>
              <a:t>5</a:t>
            </a:fld>
            <a:endParaRPr lang="en-US"/>
          </a:p>
        </p:txBody>
      </p:sp>
    </p:spTree>
    <p:extLst>
      <p:ext uri="{BB962C8B-B14F-4D97-AF65-F5344CB8AC3E}">
        <p14:creationId xmlns:p14="http://schemas.microsoft.com/office/powerpoint/2010/main" val="3208771723"/>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3470-AE0C-3189-B274-3C27BEE4690F}"/>
              </a:ext>
            </a:extLst>
          </p:cNvPr>
          <p:cNvSpPr>
            <a:spLocks noGrp="1"/>
          </p:cNvSpPr>
          <p:nvPr>
            <p:ph type="title"/>
          </p:nvPr>
        </p:nvSpPr>
        <p:spPr/>
        <p:txBody>
          <a:bodyPr>
            <a:normAutofit fontScale="90000"/>
          </a:bodyPr>
          <a:lstStyle/>
          <a:p>
            <a:br>
              <a:rPr lang="en-US" sz="4000">
                <a:solidFill>
                  <a:srgbClr val="000000"/>
                </a:solidFill>
                <a:ea typeface="+mj-lt"/>
                <a:cs typeface="+mj-lt"/>
              </a:rPr>
            </a:br>
            <a:r>
              <a:rPr lang="en-US" sz="4000">
                <a:solidFill>
                  <a:srgbClr val="000000"/>
                </a:solidFill>
                <a:ea typeface="+mj-lt"/>
                <a:cs typeface="+mj-lt"/>
              </a:rPr>
              <a:t>SQLite Datatypes</a:t>
            </a:r>
            <a:br>
              <a:rPr lang="en-US" sz="4000">
                <a:ea typeface="+mj-lt"/>
                <a:cs typeface="+mj-lt"/>
              </a:rPr>
            </a:br>
            <a:endParaRPr lang="en-US" sz="4000">
              <a:solidFill>
                <a:srgbClr val="000000"/>
              </a:solidFill>
              <a:ea typeface="+mj-lt"/>
              <a:cs typeface="+mj-lt"/>
            </a:endParaRPr>
          </a:p>
        </p:txBody>
      </p:sp>
      <p:sp>
        <p:nvSpPr>
          <p:cNvPr id="3" name="Content Placeholder 2">
            <a:extLst>
              <a:ext uri="{FF2B5EF4-FFF2-40B4-BE49-F238E27FC236}">
                <a16:creationId xmlns:a16="http://schemas.microsoft.com/office/drawing/2014/main" id="{E6DEFFB0-369D-7316-EAC3-6F67DABEB6E6}"/>
              </a:ext>
            </a:extLst>
          </p:cNvPr>
          <p:cNvSpPr>
            <a:spLocks noGrp="1"/>
          </p:cNvSpPr>
          <p:nvPr>
            <p:ph idx="1"/>
          </p:nvPr>
        </p:nvSpPr>
        <p:spPr/>
        <p:txBody>
          <a:bodyPr vert="horz" lIns="91440" tIns="45720" rIns="91440" bIns="45720" rtlCol="0" anchor="t">
            <a:normAutofit/>
          </a:bodyPr>
          <a:lstStyle/>
          <a:p>
            <a:r>
              <a:rPr lang="en-US" sz="2000" dirty="0">
                <a:solidFill>
                  <a:srgbClr val="000000"/>
                </a:solidFill>
                <a:ea typeface="+mn-lt"/>
                <a:cs typeface="+mn-lt"/>
              </a:rPr>
              <a:t>Most SQL database systems use static typing; i.e., the type of a value is determined by the column in which the value is stored. SQLite uses a more general dynamic type system – the type of a value is associated with the value itself, not with its column. Think of column types as hints. It is possible to store a string in an integer column and vice versa.</a:t>
            </a:r>
          </a:p>
          <a:p>
            <a:r>
              <a:rPr lang="en-US" sz="2000" dirty="0">
                <a:latin typeface="Segoe UI"/>
                <a:cs typeface="Segoe UI"/>
              </a:rPr>
              <a:t>SQLite does not have a separate Boolean storage class. Boolean values are stored as integers 0 (false) and 1 (true).</a:t>
            </a:r>
            <a:endParaRPr lang="en-US" sz="2000">
              <a:latin typeface="Segoe UI"/>
              <a:cs typeface="Segoe UI"/>
            </a:endParaRPr>
          </a:p>
          <a:p>
            <a:r>
              <a:rPr lang="en-US" sz="2000" dirty="0">
                <a:latin typeface="Segoe UI"/>
                <a:cs typeface="Segoe UI"/>
              </a:rPr>
              <a:t>SQLite does not have a storage class set aside for storing dates and/or times. Instead, the built-in date and time functions of SQLite are capable of storing dates and times as TEXT, REAL, or INTEGER values.</a:t>
            </a:r>
            <a:endParaRPr lang="en-US" sz="2000">
              <a:latin typeface="Segoe UI"/>
              <a:cs typeface="Segoe UI"/>
            </a:endParaRPr>
          </a:p>
          <a:p>
            <a:r>
              <a:rPr lang="en-US" sz="2000" dirty="0">
                <a:latin typeface="Segoe UI"/>
                <a:cs typeface="Segoe UI"/>
              </a:rPr>
              <a:t>Each column in a SQLite database is assigned one of the following type affinities:</a:t>
            </a:r>
            <a:endParaRPr lang="en-US" sz="2000">
              <a:latin typeface="Segoe UI"/>
              <a:cs typeface="Segoe UI"/>
            </a:endParaRPr>
          </a:p>
          <a:p>
            <a:pPr marL="0" indent="0">
              <a:buNone/>
            </a:pPr>
            <a:r>
              <a:rPr lang="en-US" sz="2000" dirty="0">
                <a:latin typeface="Segoe UI"/>
                <a:cs typeface="Segoe UI"/>
              </a:rPr>
              <a:t>    TEXT ; NUMERIC; INTEGER; REAL; BLOB</a:t>
            </a:r>
            <a:endParaRPr lang="en-US" sz="2000" dirty="0"/>
          </a:p>
          <a:p>
            <a:endParaRPr lang="en-US" sz="2000" dirty="0">
              <a:latin typeface="Arial"/>
              <a:cs typeface="Arial"/>
            </a:endParaRPr>
          </a:p>
        </p:txBody>
      </p:sp>
      <p:sp>
        <p:nvSpPr>
          <p:cNvPr id="42" name="Slide Number Placeholder 41">
            <a:extLst>
              <a:ext uri="{FF2B5EF4-FFF2-40B4-BE49-F238E27FC236}">
                <a16:creationId xmlns:a16="http://schemas.microsoft.com/office/drawing/2014/main" id="{87FC8404-24A0-E366-08F2-4D0EE6A2BEE0}"/>
              </a:ext>
            </a:extLst>
          </p:cNvPr>
          <p:cNvSpPr>
            <a:spLocks noGrp="1"/>
          </p:cNvSpPr>
          <p:nvPr>
            <p:ph type="sldNum" sz="quarter" idx="12"/>
          </p:nvPr>
        </p:nvSpPr>
        <p:spPr/>
        <p:txBody>
          <a:bodyPr/>
          <a:lstStyle/>
          <a:p>
            <a:fld id="{48F63A3B-78C7-47BE-AE5E-E10140E04643}" type="slidenum">
              <a:rPr lang="en-US" dirty="0"/>
              <a:t>6</a:t>
            </a:fld>
            <a:endParaRPr lang="en-US"/>
          </a:p>
        </p:txBody>
      </p:sp>
    </p:spTree>
    <p:extLst>
      <p:ext uri="{BB962C8B-B14F-4D97-AF65-F5344CB8AC3E}">
        <p14:creationId xmlns:p14="http://schemas.microsoft.com/office/powerpoint/2010/main" val="3803018210"/>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E2F6C-66E6-660B-8D36-F96F96E5594A}"/>
              </a:ext>
            </a:extLst>
          </p:cNvPr>
          <p:cNvSpPr>
            <a:spLocks noGrp="1"/>
          </p:cNvSpPr>
          <p:nvPr>
            <p:ph type="title"/>
          </p:nvPr>
        </p:nvSpPr>
        <p:spPr>
          <a:xfrm>
            <a:off x="839635" y="155314"/>
            <a:ext cx="10515600" cy="1325563"/>
          </a:xfrm>
        </p:spPr>
        <p:txBody>
          <a:bodyPr>
            <a:normAutofit/>
          </a:bodyPr>
          <a:lstStyle/>
          <a:p>
            <a:r>
              <a:rPr lang="en-US" sz="4000" dirty="0">
                <a:solidFill>
                  <a:srgbClr val="000000"/>
                </a:solidFill>
                <a:ea typeface="+mj-lt"/>
                <a:cs typeface="+mj-lt"/>
              </a:rPr>
              <a:t>Drawbacks to SQLite</a:t>
            </a:r>
            <a:endParaRPr lang="en-US" sz="4000" dirty="0"/>
          </a:p>
        </p:txBody>
      </p:sp>
      <p:sp>
        <p:nvSpPr>
          <p:cNvPr id="3" name="Content Placeholder 2">
            <a:extLst>
              <a:ext uri="{FF2B5EF4-FFF2-40B4-BE49-F238E27FC236}">
                <a16:creationId xmlns:a16="http://schemas.microsoft.com/office/drawing/2014/main" id="{8B4481A6-EE92-A94B-7F9B-21680EF6F4B4}"/>
              </a:ext>
            </a:extLst>
          </p:cNvPr>
          <p:cNvSpPr>
            <a:spLocks noGrp="1"/>
          </p:cNvSpPr>
          <p:nvPr>
            <p:ph idx="1"/>
          </p:nvPr>
        </p:nvSpPr>
        <p:spPr>
          <a:xfrm>
            <a:off x="838200" y="1341938"/>
            <a:ext cx="10515600" cy="2755574"/>
          </a:xfrm>
        </p:spPr>
        <p:txBody>
          <a:bodyPr vert="horz" lIns="91440" tIns="45720" rIns="91440" bIns="45720" rtlCol="0" anchor="t">
            <a:normAutofit/>
          </a:bodyPr>
          <a:lstStyle/>
          <a:p>
            <a:r>
              <a:rPr lang="en-US" sz="1800" dirty="0">
                <a:solidFill>
                  <a:srgbClr val="10162F"/>
                </a:solidFill>
                <a:ea typeface="+mn-lt"/>
                <a:cs typeface="+mn-lt"/>
              </a:rPr>
              <a:t>SQLite’s signature portability unfortunately makes it a poor choice when many different users are updating the table at the same time (to maintain integrity of data, only one user can write to the file at a time). It also may require some more work to ensure the security of private data due to the same features that make SQLite accessible. Furthermore, SQLite does not offer the same exact functionality as many other database systems, limiting some advanced features other relational database systems offer. SQLite does not validate data types - Where many other database software would reject data that does not conform to a table’s schema, SQLite allows users to store data of any type into any column.</a:t>
            </a:r>
            <a:endParaRPr lang="en-US" sz="1800"/>
          </a:p>
        </p:txBody>
      </p:sp>
      <p:sp>
        <p:nvSpPr>
          <p:cNvPr id="5" name="Slide Number Placeholder 4">
            <a:extLst>
              <a:ext uri="{FF2B5EF4-FFF2-40B4-BE49-F238E27FC236}">
                <a16:creationId xmlns:a16="http://schemas.microsoft.com/office/drawing/2014/main" id="{567813F2-99F0-4154-E8E3-7976FD6B1432}"/>
              </a:ext>
            </a:extLst>
          </p:cNvPr>
          <p:cNvSpPr>
            <a:spLocks noGrp="1"/>
          </p:cNvSpPr>
          <p:nvPr>
            <p:ph type="sldNum" sz="quarter" idx="12"/>
          </p:nvPr>
        </p:nvSpPr>
        <p:spPr/>
        <p:txBody>
          <a:bodyPr/>
          <a:lstStyle/>
          <a:p>
            <a:fld id="{48F63A3B-78C7-47BE-AE5E-E10140E04643}" type="slidenum">
              <a:rPr lang="en-US" dirty="0"/>
              <a:t>7</a:t>
            </a:fld>
            <a:endParaRPr lang="en-US"/>
          </a:p>
        </p:txBody>
      </p:sp>
      <p:pic>
        <p:nvPicPr>
          <p:cNvPr id="4" name="Picture 3" descr="A black rectangular object with white text">
            <a:extLst>
              <a:ext uri="{FF2B5EF4-FFF2-40B4-BE49-F238E27FC236}">
                <a16:creationId xmlns:a16="http://schemas.microsoft.com/office/drawing/2014/main" id="{628CAAB1-3876-3BBA-36E6-4CB3A167B864}"/>
              </a:ext>
            </a:extLst>
          </p:cNvPr>
          <p:cNvPicPr>
            <a:picLocks noChangeAspect="1"/>
          </p:cNvPicPr>
          <p:nvPr/>
        </p:nvPicPr>
        <p:blipFill rotWithShape="1">
          <a:blip r:embed="rId2"/>
          <a:srcRect r="44594" b="21764"/>
          <a:stretch/>
        </p:blipFill>
        <p:spPr>
          <a:xfrm>
            <a:off x="1065691" y="3439438"/>
            <a:ext cx="3667782" cy="1341361"/>
          </a:xfrm>
          <a:prstGeom prst="rect">
            <a:avLst/>
          </a:prstGeom>
        </p:spPr>
      </p:pic>
      <p:sp>
        <p:nvSpPr>
          <p:cNvPr id="6" name="TextBox 5">
            <a:extLst>
              <a:ext uri="{FF2B5EF4-FFF2-40B4-BE49-F238E27FC236}">
                <a16:creationId xmlns:a16="http://schemas.microsoft.com/office/drawing/2014/main" id="{3D80D775-338C-AB87-F5C5-68BD53C029C5}"/>
              </a:ext>
            </a:extLst>
          </p:cNvPr>
          <p:cNvSpPr txBox="1"/>
          <p:nvPr/>
        </p:nvSpPr>
        <p:spPr>
          <a:xfrm>
            <a:off x="838200" y="5162550"/>
            <a:ext cx="106013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dirty="0">
                <a:solidFill>
                  <a:srgbClr val="10162F"/>
                </a:solidFill>
                <a:cs typeface="Arial"/>
              </a:rPr>
              <a:t>However, SQLite will not reject values of the wrong type. We could accidentally insert the wrong data types in the columns. Storing different data types in the same column is a bad habit that can lead to errors that are difficult to fix, so it’s important to be strict about your schema even though SQLite will not enforce it.</a:t>
            </a:r>
            <a:r>
              <a:rPr lang="en-US" dirty="0">
                <a:cs typeface="Arial"/>
              </a:rPr>
              <a:t>​​</a:t>
            </a:r>
            <a:endParaRPr lang="en-US" dirty="0"/>
          </a:p>
        </p:txBody>
      </p:sp>
      <p:sp>
        <p:nvSpPr>
          <p:cNvPr id="7" name="TextBox 6">
            <a:extLst>
              <a:ext uri="{FF2B5EF4-FFF2-40B4-BE49-F238E27FC236}">
                <a16:creationId xmlns:a16="http://schemas.microsoft.com/office/drawing/2014/main" id="{B19C22E6-8C7A-9B71-BC33-4997606C4B86}"/>
              </a:ext>
            </a:extLst>
          </p:cNvPr>
          <p:cNvSpPr txBox="1"/>
          <p:nvPr/>
        </p:nvSpPr>
        <p:spPr>
          <a:xfrm>
            <a:off x="4862839" y="3369632"/>
            <a:ext cx="64931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10162F"/>
                </a:solidFill>
                <a:cs typeface="Arial"/>
              </a:rPr>
              <a:t>SQLite creates schemas, which constrain the type of data in each column, but it does not enforce them. The example below shows that the id column expects to store integers, the name column expects to store text, and the age column expects to store integers:</a:t>
            </a:r>
            <a:r>
              <a:rPr lang="en-US" dirty="0">
                <a:cs typeface="Arial"/>
              </a:rPr>
              <a:t>​</a:t>
            </a:r>
            <a:endParaRPr lang="en-US" dirty="0"/>
          </a:p>
        </p:txBody>
      </p:sp>
    </p:spTree>
    <p:extLst>
      <p:ext uri="{BB962C8B-B14F-4D97-AF65-F5344CB8AC3E}">
        <p14:creationId xmlns:p14="http://schemas.microsoft.com/office/powerpoint/2010/main" val="4128404579"/>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DA0DF-6DDD-7A7C-A808-E3C9C262CA39}"/>
              </a:ext>
            </a:extLst>
          </p:cNvPr>
          <p:cNvSpPr>
            <a:spLocks noGrp="1"/>
          </p:cNvSpPr>
          <p:nvPr>
            <p:ph type="title"/>
          </p:nvPr>
        </p:nvSpPr>
        <p:spPr>
          <a:xfrm>
            <a:off x="838200" y="312934"/>
            <a:ext cx="10515600" cy="1325563"/>
          </a:xfrm>
        </p:spPr>
        <p:txBody>
          <a:bodyPr/>
          <a:lstStyle/>
          <a:p>
            <a:br>
              <a:rPr lang="en-US" sz="4000"/>
            </a:br>
            <a:r>
              <a:rPr lang="en-US" sz="4000">
                <a:solidFill>
                  <a:srgbClr val="000000"/>
                </a:solidFill>
              </a:rPr>
              <a:t>SQLite Limitations</a:t>
            </a:r>
            <a:endParaRPr lang="en-US" sz="4000"/>
          </a:p>
          <a:p>
            <a:endParaRPr lang="en-US" sz="4000"/>
          </a:p>
        </p:txBody>
      </p:sp>
      <p:sp>
        <p:nvSpPr>
          <p:cNvPr id="3" name="Content Placeholder 2">
            <a:extLst>
              <a:ext uri="{FF2B5EF4-FFF2-40B4-BE49-F238E27FC236}">
                <a16:creationId xmlns:a16="http://schemas.microsoft.com/office/drawing/2014/main" id="{797D99DD-5DC0-225A-E9BB-900E616A3977}"/>
              </a:ext>
            </a:extLst>
          </p:cNvPr>
          <p:cNvSpPr>
            <a:spLocks noGrp="1"/>
          </p:cNvSpPr>
          <p:nvPr>
            <p:ph idx="1"/>
          </p:nvPr>
        </p:nvSpPr>
        <p:spPr>
          <a:xfrm>
            <a:off x="838200" y="1533351"/>
            <a:ext cx="10515600" cy="4351338"/>
          </a:xfrm>
        </p:spPr>
        <p:txBody>
          <a:bodyPr vert="horz" lIns="91440" tIns="45720" rIns="91440" bIns="45720" rtlCol="0" anchor="t">
            <a:noAutofit/>
          </a:bodyPr>
          <a:lstStyle/>
          <a:p>
            <a:r>
              <a:rPr lang="en-US" sz="1800" b="1">
                <a:ea typeface="+mn-lt"/>
                <a:cs typeface="+mn-lt"/>
              </a:rPr>
              <a:t>Limited concurrency: </a:t>
            </a:r>
            <a:r>
              <a:rPr lang="en-US" sz="1800">
                <a:ea typeface="+mn-lt"/>
                <a:cs typeface="+mn-lt"/>
              </a:rPr>
              <a:t>SQLite uses file-based locking to control access to the database, which can lead to performance issues when multiple clients are trying to read and write to the database simultaneously. This makes it less suitable for use in highly concurrent systems.</a:t>
            </a:r>
            <a:br>
              <a:rPr lang="en-US" sz="1800">
                <a:ea typeface="+mn-lt"/>
                <a:cs typeface="+mn-lt"/>
              </a:rPr>
            </a:br>
            <a:r>
              <a:rPr lang="en-US" sz="1800">
                <a:ea typeface="+mn-lt"/>
                <a:cs typeface="+mn-lt"/>
              </a:rPr>
              <a:t>No support for stored procedures: SQLite does not support stored procedures, which are pre-compiled SQL statements that can be executed on the server. This means that all SQL code must be sent to the server and compiled at runtime, which can be less efficient than using stored procedures.</a:t>
            </a:r>
          </a:p>
          <a:p>
            <a:r>
              <a:rPr lang="en-US" sz="1800" b="1">
                <a:ea typeface="+mn-lt"/>
                <a:cs typeface="+mn-lt"/>
              </a:rPr>
              <a:t>No support for triggers*:</a:t>
            </a:r>
            <a:r>
              <a:rPr lang="en-US" sz="1800">
                <a:ea typeface="+mn-lt"/>
                <a:cs typeface="+mn-lt"/>
              </a:rPr>
              <a:t> SQLite does not support triggers, which are database actions that are automatically triggered by specified events (such as the insertion of a row into a table). This means that you have to manually implement any logic that needs to be triggered by specific events.</a:t>
            </a:r>
          </a:p>
          <a:p>
            <a:pPr marL="0" indent="0">
              <a:buNone/>
            </a:pPr>
            <a:r>
              <a:rPr lang="en-US" sz="1800">
                <a:ea typeface="+mn-lt"/>
                <a:cs typeface="+mn-lt"/>
              </a:rPr>
              <a:t>      *It only supports FOR EACH ROW triggers.</a:t>
            </a:r>
            <a:endParaRPr lang="en-US" sz="1800"/>
          </a:p>
          <a:p>
            <a:r>
              <a:rPr lang="en-US" sz="1800" b="1">
                <a:ea typeface="+mn-lt"/>
                <a:cs typeface="+mn-lt"/>
              </a:rPr>
              <a:t>Limited support for data types:</a:t>
            </a:r>
            <a:r>
              <a:rPr lang="en-US" sz="1800">
                <a:ea typeface="+mn-lt"/>
                <a:cs typeface="+mn-lt"/>
              </a:rPr>
              <a:t> SQLite has a relatively small set of data types compared to other database engines. It does not support many of the more advanced data types, such as arrays and JSON, that are available in other databases.</a:t>
            </a:r>
          </a:p>
          <a:p>
            <a:r>
              <a:rPr lang="en-US" sz="1800" b="1">
                <a:ea typeface="+mn-lt"/>
                <a:cs typeface="+mn-lt"/>
              </a:rPr>
              <a:t>Limited scalability:</a:t>
            </a:r>
            <a:r>
              <a:rPr lang="en-US" sz="1800">
                <a:ea typeface="+mn-lt"/>
                <a:cs typeface="+mn-lt"/>
              </a:rPr>
              <a:t> SQLite is not designed to be a high-concurrency, high-transaction-rate database engine. It is more suited for use in smaller-scale, low-concurrency systems, and may not be able to scale to handle very large amounts of data or very high levels of concurrency.</a:t>
            </a:r>
            <a:endParaRPr lang="en-US" sz="1800"/>
          </a:p>
        </p:txBody>
      </p:sp>
      <p:sp>
        <p:nvSpPr>
          <p:cNvPr id="4" name="Slide Number Placeholder 3">
            <a:extLst>
              <a:ext uri="{FF2B5EF4-FFF2-40B4-BE49-F238E27FC236}">
                <a16:creationId xmlns:a16="http://schemas.microsoft.com/office/drawing/2014/main" id="{E5541DC5-47E6-A8CE-2E93-21EBCD7BDA6F}"/>
              </a:ext>
            </a:extLst>
          </p:cNvPr>
          <p:cNvSpPr>
            <a:spLocks noGrp="1"/>
          </p:cNvSpPr>
          <p:nvPr>
            <p:ph type="sldNum" sz="quarter" idx="12"/>
          </p:nvPr>
        </p:nvSpPr>
        <p:spPr/>
        <p:txBody>
          <a:bodyPr/>
          <a:lstStyle/>
          <a:p>
            <a:fld id="{48F63A3B-78C7-47BE-AE5E-E10140E04643}" type="slidenum">
              <a:rPr lang="en-US" dirty="0"/>
              <a:t>8</a:t>
            </a:fld>
            <a:endParaRPr lang="en-US"/>
          </a:p>
        </p:txBody>
      </p:sp>
    </p:spTree>
    <p:extLst>
      <p:ext uri="{BB962C8B-B14F-4D97-AF65-F5344CB8AC3E}">
        <p14:creationId xmlns:p14="http://schemas.microsoft.com/office/powerpoint/2010/main" val="4030697403"/>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F92E3-D7D2-FA17-9701-E28F1540DBAF}"/>
              </a:ext>
            </a:extLst>
          </p:cNvPr>
          <p:cNvSpPr>
            <a:spLocks noGrp="1"/>
          </p:cNvSpPr>
          <p:nvPr>
            <p:ph type="title"/>
          </p:nvPr>
        </p:nvSpPr>
        <p:spPr/>
        <p:txBody>
          <a:bodyPr>
            <a:normAutofit/>
          </a:bodyPr>
          <a:lstStyle/>
          <a:p>
            <a:r>
              <a:rPr lang="en-US" sz="4000">
                <a:ea typeface="+mj-lt"/>
                <a:cs typeface="+mj-lt"/>
              </a:rPr>
              <a:t>SQLite Limitations</a:t>
            </a:r>
          </a:p>
        </p:txBody>
      </p:sp>
      <p:pic>
        <p:nvPicPr>
          <p:cNvPr id="7" name="Content Placeholder 6" descr="A screenshot of a computer program&#10;&#10;Description automatically generated">
            <a:extLst>
              <a:ext uri="{FF2B5EF4-FFF2-40B4-BE49-F238E27FC236}">
                <a16:creationId xmlns:a16="http://schemas.microsoft.com/office/drawing/2014/main" id="{3974ED7B-240E-C482-6169-14A061F0BA78}"/>
              </a:ext>
            </a:extLst>
          </p:cNvPr>
          <p:cNvPicPr>
            <a:picLocks noGrp="1" noChangeAspect="1"/>
          </p:cNvPicPr>
          <p:nvPr>
            <p:ph idx="1"/>
          </p:nvPr>
        </p:nvPicPr>
        <p:blipFill>
          <a:blip r:embed="rId2"/>
          <a:stretch>
            <a:fillRect/>
          </a:stretch>
        </p:blipFill>
        <p:spPr>
          <a:xfrm>
            <a:off x="551576" y="1534786"/>
            <a:ext cx="7289285" cy="4351338"/>
          </a:xfrm>
        </p:spPr>
      </p:pic>
      <p:sp>
        <p:nvSpPr>
          <p:cNvPr id="3" name="Slide Number Placeholder 2">
            <a:extLst>
              <a:ext uri="{FF2B5EF4-FFF2-40B4-BE49-F238E27FC236}">
                <a16:creationId xmlns:a16="http://schemas.microsoft.com/office/drawing/2014/main" id="{8F7F93EC-107F-5987-D71B-AF8314D510A8}"/>
              </a:ext>
            </a:extLst>
          </p:cNvPr>
          <p:cNvSpPr>
            <a:spLocks noGrp="1"/>
          </p:cNvSpPr>
          <p:nvPr>
            <p:ph type="sldNum" sz="quarter" idx="12"/>
          </p:nvPr>
        </p:nvSpPr>
        <p:spPr/>
        <p:txBody>
          <a:bodyPr/>
          <a:lstStyle/>
          <a:p>
            <a:fld id="{48F63A3B-78C7-47BE-AE5E-E10140E04643}" type="slidenum">
              <a:rPr lang="en-US" dirty="0"/>
              <a:t>9</a:t>
            </a:fld>
            <a:endParaRPr lang="en-US"/>
          </a:p>
        </p:txBody>
      </p:sp>
      <p:sp>
        <p:nvSpPr>
          <p:cNvPr id="4" name="Content Placeholder 2">
            <a:extLst>
              <a:ext uri="{FF2B5EF4-FFF2-40B4-BE49-F238E27FC236}">
                <a16:creationId xmlns:a16="http://schemas.microsoft.com/office/drawing/2014/main" id="{27773804-6D66-E1EF-0CC3-790B66CCD7C1}"/>
              </a:ext>
            </a:extLst>
          </p:cNvPr>
          <p:cNvSpPr txBox="1">
            <a:spLocks/>
          </p:cNvSpPr>
          <p:nvPr/>
        </p:nvSpPr>
        <p:spPr>
          <a:xfrm>
            <a:off x="7998911" y="1804749"/>
            <a:ext cx="4189956" cy="4716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rgbClr val="000000"/>
                </a:solidFill>
                <a:ea typeface="+mn-lt"/>
                <a:cs typeface="+mn-lt"/>
              </a:rPr>
              <a:t>Do Not support RIGHT nor FULL OUTER JOIN.</a:t>
            </a:r>
          </a:p>
          <a:p>
            <a:r>
              <a:rPr lang="en-US" sz="1600">
                <a:solidFill>
                  <a:srgbClr val="000000"/>
                </a:solidFill>
                <a:ea typeface="+mn-lt"/>
                <a:cs typeface="+mn-lt"/>
              </a:rPr>
              <a:t>Using the ALTER table statement, you can only add a column or rename a table.</a:t>
            </a:r>
          </a:p>
          <a:p>
            <a:r>
              <a:rPr lang="en-US" sz="1600">
                <a:solidFill>
                  <a:srgbClr val="000000"/>
                </a:solidFill>
                <a:ea typeface="+mn-lt"/>
                <a:cs typeface="+mn-lt"/>
              </a:rPr>
              <a:t>Do Not support FOR EACH STATEMENT triggers. It only supports FOR EACH ROW triggers.</a:t>
            </a:r>
            <a:endParaRPr lang="en-US" sz="1600"/>
          </a:p>
          <a:p>
            <a:r>
              <a:rPr lang="en-US" sz="1600">
                <a:solidFill>
                  <a:srgbClr val="000000"/>
                </a:solidFill>
                <a:ea typeface="+mn-lt"/>
                <a:cs typeface="+mn-lt"/>
              </a:rPr>
              <a:t>VIEWs are read-only, and you can't write INSERT, DELETE, or UPDATE statements into the view.</a:t>
            </a:r>
          </a:p>
          <a:p>
            <a:r>
              <a:rPr lang="en-US" sz="1600">
                <a:ea typeface="+mn-lt"/>
                <a:cs typeface="+mn-lt"/>
              </a:rPr>
              <a:t>Allows only normal file access permissions. It does not support GRANT and REVOKE commands as SQLite reads and writes to the disk files.</a:t>
            </a:r>
          </a:p>
          <a:p>
            <a:endParaRPr lang="en-US" sz="1600"/>
          </a:p>
        </p:txBody>
      </p:sp>
    </p:spTree>
    <p:extLst>
      <p:ext uri="{BB962C8B-B14F-4D97-AF65-F5344CB8AC3E}">
        <p14:creationId xmlns:p14="http://schemas.microsoft.com/office/powerpoint/2010/main" val="1198741895"/>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76734-1F7A-FE52-3CA6-B0D7195CDC12}"/>
              </a:ext>
            </a:extLst>
          </p:cNvPr>
          <p:cNvSpPr>
            <a:spLocks noGrp="1"/>
          </p:cNvSpPr>
          <p:nvPr>
            <p:ph type="title"/>
          </p:nvPr>
        </p:nvSpPr>
        <p:spPr/>
        <p:txBody>
          <a:bodyPr>
            <a:normAutofit fontScale="90000"/>
          </a:bodyPr>
          <a:lstStyle/>
          <a:p>
            <a:br>
              <a:rPr lang="en-US" dirty="0"/>
            </a:br>
            <a:r>
              <a:rPr lang="en-US" dirty="0"/>
              <a:t>      DB Browser for SQLite </a:t>
            </a:r>
            <a:br>
              <a:rPr lang="en-US" dirty="0">
                <a:ea typeface="+mj-lt"/>
                <a:cs typeface="+mj-lt"/>
              </a:rPr>
            </a:br>
            <a:endParaRPr lang="en-US">
              <a:ea typeface="+mj-lt"/>
              <a:cs typeface="+mj-lt"/>
            </a:endParaRPr>
          </a:p>
        </p:txBody>
      </p:sp>
      <p:sp>
        <p:nvSpPr>
          <p:cNvPr id="3" name="Content Placeholder 2">
            <a:extLst>
              <a:ext uri="{FF2B5EF4-FFF2-40B4-BE49-F238E27FC236}">
                <a16:creationId xmlns:a16="http://schemas.microsoft.com/office/drawing/2014/main" id="{C48379AA-13B3-0054-861A-CFD2CDED1DAB}"/>
              </a:ext>
            </a:extLst>
          </p:cNvPr>
          <p:cNvSpPr>
            <a:spLocks noGrp="1"/>
          </p:cNvSpPr>
          <p:nvPr>
            <p:ph idx="1"/>
          </p:nvPr>
        </p:nvSpPr>
        <p:spPr>
          <a:xfrm>
            <a:off x="838200" y="1950885"/>
            <a:ext cx="10515600" cy="4351338"/>
          </a:xfrm>
        </p:spPr>
        <p:txBody>
          <a:bodyPr vert="horz" lIns="91440" tIns="45720" rIns="91440" bIns="45720" rtlCol="0" anchor="t">
            <a:normAutofit/>
          </a:bodyPr>
          <a:lstStyle/>
          <a:p>
            <a:r>
              <a:rPr lang="en-US" sz="2000" dirty="0">
                <a:solidFill>
                  <a:srgbClr val="222222"/>
                </a:solidFill>
                <a:ea typeface="+mn-lt"/>
                <a:cs typeface="+mn-lt"/>
              </a:rPr>
              <a:t>DB Browser for SQLite (DB4S) is a high quality, visual, open source tool to create, design, and edit database files compatible with SQLite.</a:t>
            </a:r>
            <a:endParaRPr lang="en-US" sz="2000" dirty="0"/>
          </a:p>
          <a:p>
            <a:r>
              <a:rPr lang="en-US" sz="2000" dirty="0">
                <a:solidFill>
                  <a:srgbClr val="222222"/>
                </a:solidFill>
                <a:ea typeface="+mn-lt"/>
                <a:cs typeface="+mn-lt"/>
              </a:rPr>
              <a:t>DB4S is for users and developers who want to create, search, and edit databases. DB4S uses a familiar spreadsheet-like interface, and complicated SQL commands do not have to be learned.</a:t>
            </a:r>
            <a:endParaRPr lang="en-US" sz="2000" dirty="0">
              <a:solidFill>
                <a:srgbClr val="222222"/>
              </a:solidFill>
            </a:endParaRPr>
          </a:p>
          <a:p>
            <a:endParaRPr lang="en-US" sz="2000">
              <a:solidFill>
                <a:srgbClr val="222222"/>
              </a:solidFill>
            </a:endParaRPr>
          </a:p>
          <a:p>
            <a:endParaRPr lang="en-US" sz="2000" dirty="0">
              <a:solidFill>
                <a:srgbClr val="222222"/>
              </a:solidFill>
              <a:ea typeface="+mn-lt"/>
              <a:cs typeface="+mn-lt"/>
            </a:endParaRPr>
          </a:p>
          <a:p>
            <a:pPr marL="0" indent="0">
              <a:buNone/>
            </a:pPr>
            <a:r>
              <a:rPr lang="en-US" sz="2000" dirty="0">
                <a:solidFill>
                  <a:srgbClr val="222222"/>
                </a:solidFill>
                <a:ea typeface="+mn-lt"/>
                <a:cs typeface="+mn-lt"/>
                <a:hlinkClick r:id="rId2">
                  <a:extLst>
                    <a:ext uri="{A12FA001-AC4F-418D-AE19-62706E023703}">
                      <ahyp:hlinkClr xmlns:ahyp="http://schemas.microsoft.com/office/drawing/2018/hyperlinkcolor" val="tx"/>
                    </a:ext>
                  </a:extLst>
                </a:hlinkClick>
              </a:rPr>
              <a:t>https://sqlitebrowser.org</a:t>
            </a:r>
            <a:endParaRPr lang="en-US" sz="2000" dirty="0">
              <a:solidFill>
                <a:srgbClr val="222222"/>
              </a:solidFill>
              <a:hlinkClick r:id="rId2">
                <a:extLst>
                  <a:ext uri="{A12FA001-AC4F-418D-AE19-62706E023703}">
                    <ahyp:hlinkClr xmlns:ahyp="http://schemas.microsoft.com/office/drawing/2018/hyperlinkcolor" val="tx"/>
                  </a:ext>
                </a:extLst>
              </a:hlinkClick>
            </a:endParaRPr>
          </a:p>
          <a:p>
            <a:pPr marL="0" indent="0">
              <a:buNone/>
            </a:pPr>
            <a:endParaRPr lang="en-US" sz="2000">
              <a:solidFill>
                <a:srgbClr val="222222"/>
              </a:solidFill>
            </a:endParaRPr>
          </a:p>
          <a:p>
            <a:endParaRPr lang="en-US" sz="2000">
              <a:solidFill>
                <a:srgbClr val="222222"/>
              </a:solidFill>
            </a:endParaRPr>
          </a:p>
        </p:txBody>
      </p:sp>
      <p:sp>
        <p:nvSpPr>
          <p:cNvPr id="6" name="Slide Number Placeholder 5">
            <a:extLst>
              <a:ext uri="{FF2B5EF4-FFF2-40B4-BE49-F238E27FC236}">
                <a16:creationId xmlns:a16="http://schemas.microsoft.com/office/drawing/2014/main" id="{98A417DC-B5E0-ACEA-E6AA-A10BCB3DE2B4}"/>
              </a:ext>
            </a:extLst>
          </p:cNvPr>
          <p:cNvSpPr>
            <a:spLocks noGrp="1"/>
          </p:cNvSpPr>
          <p:nvPr>
            <p:ph type="sldNum" sz="quarter" idx="12"/>
          </p:nvPr>
        </p:nvSpPr>
        <p:spPr/>
        <p:txBody>
          <a:bodyPr/>
          <a:lstStyle/>
          <a:p>
            <a:fld id="{48F63A3B-78C7-47BE-AE5E-E10140E04643}" type="slidenum">
              <a:rPr lang="en-US" dirty="0"/>
              <a:t>10</a:t>
            </a:fld>
            <a:endParaRPr lang="en-US"/>
          </a:p>
        </p:txBody>
      </p:sp>
      <p:pic>
        <p:nvPicPr>
          <p:cNvPr id="4" name="Picture 3" descr="A screenshot of a computer&#10;&#10;Description automatically generated">
            <a:extLst>
              <a:ext uri="{FF2B5EF4-FFF2-40B4-BE49-F238E27FC236}">
                <a16:creationId xmlns:a16="http://schemas.microsoft.com/office/drawing/2014/main" id="{CB064D02-3B2F-6904-8C48-2689A9B45A8F}"/>
              </a:ext>
            </a:extLst>
          </p:cNvPr>
          <p:cNvPicPr>
            <a:picLocks noChangeAspect="1"/>
          </p:cNvPicPr>
          <p:nvPr/>
        </p:nvPicPr>
        <p:blipFill>
          <a:blip r:embed="rId3"/>
          <a:stretch>
            <a:fillRect/>
          </a:stretch>
        </p:blipFill>
        <p:spPr>
          <a:xfrm>
            <a:off x="4564889" y="3577094"/>
            <a:ext cx="3062224" cy="2605677"/>
          </a:xfrm>
          <a:prstGeom prst="rect">
            <a:avLst/>
          </a:prstGeom>
        </p:spPr>
      </p:pic>
      <p:pic>
        <p:nvPicPr>
          <p:cNvPr id="5" name="Picture 4" descr="SQLite DB Browser, How to Install and Use it on Linux">
            <a:extLst>
              <a:ext uri="{FF2B5EF4-FFF2-40B4-BE49-F238E27FC236}">
                <a16:creationId xmlns:a16="http://schemas.microsoft.com/office/drawing/2014/main" id="{0827E9F1-F93C-3DA9-C2A1-58CCBCE0F734}"/>
              </a:ext>
            </a:extLst>
          </p:cNvPr>
          <p:cNvPicPr>
            <a:picLocks noChangeAspect="1"/>
          </p:cNvPicPr>
          <p:nvPr/>
        </p:nvPicPr>
        <p:blipFill>
          <a:blip r:embed="rId4"/>
          <a:stretch>
            <a:fillRect/>
          </a:stretch>
        </p:blipFill>
        <p:spPr>
          <a:xfrm>
            <a:off x="841331" y="457201"/>
            <a:ext cx="2294351" cy="1152395"/>
          </a:xfrm>
          <a:prstGeom prst="rect">
            <a:avLst/>
          </a:prstGeom>
        </p:spPr>
      </p:pic>
    </p:spTree>
    <p:extLst>
      <p:ext uri="{BB962C8B-B14F-4D97-AF65-F5344CB8AC3E}">
        <p14:creationId xmlns:p14="http://schemas.microsoft.com/office/powerpoint/2010/main" val="195844702"/>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8737C-09EB-9D95-131B-85464A6B3ED5}"/>
              </a:ext>
            </a:extLst>
          </p:cNvPr>
          <p:cNvSpPr>
            <a:spLocks noGrp="1"/>
          </p:cNvSpPr>
          <p:nvPr>
            <p:ph type="title"/>
          </p:nvPr>
        </p:nvSpPr>
        <p:spPr/>
        <p:txBody>
          <a:bodyPr/>
          <a:lstStyle/>
          <a:p>
            <a:br>
              <a:rPr lang="en-US" sz="4000"/>
            </a:br>
            <a:r>
              <a:rPr lang="en-US" sz="4000" dirty="0">
                <a:solidFill>
                  <a:srgbClr val="000000"/>
                </a:solidFill>
              </a:rPr>
              <a:t>Why SQLite?</a:t>
            </a:r>
            <a:endParaRPr lang="en-US" sz="4000" dirty="0"/>
          </a:p>
          <a:p>
            <a:endParaRPr lang="en-US" sz="4000"/>
          </a:p>
        </p:txBody>
      </p:sp>
      <p:sp>
        <p:nvSpPr>
          <p:cNvPr id="3" name="Content Placeholder 2">
            <a:extLst>
              <a:ext uri="{FF2B5EF4-FFF2-40B4-BE49-F238E27FC236}">
                <a16:creationId xmlns:a16="http://schemas.microsoft.com/office/drawing/2014/main" id="{30E87408-FFDA-8D88-3B33-5853BEB186FC}"/>
              </a:ext>
            </a:extLst>
          </p:cNvPr>
          <p:cNvSpPr>
            <a:spLocks noGrp="1"/>
          </p:cNvSpPr>
          <p:nvPr>
            <p:ph idx="1"/>
          </p:nvPr>
        </p:nvSpPr>
        <p:spPr>
          <a:xfrm>
            <a:off x="838200" y="1396135"/>
            <a:ext cx="10515600" cy="5030210"/>
          </a:xfrm>
        </p:spPr>
        <p:txBody>
          <a:bodyPr vert="horz" lIns="91440" tIns="45720" rIns="91440" bIns="45720" rtlCol="0" anchor="t">
            <a:noAutofit/>
          </a:bodyPr>
          <a:lstStyle/>
          <a:p>
            <a:pPr marL="0" indent="0">
              <a:buNone/>
            </a:pPr>
            <a:r>
              <a:rPr lang="en-US" sz="1800" dirty="0">
                <a:solidFill>
                  <a:srgbClr val="273239"/>
                </a:solidFill>
                <a:ea typeface="+mn-lt"/>
                <a:cs typeface="+mn-lt"/>
              </a:rPr>
              <a:t>There are several reasons why you might choose to use SQLite in your project:</a:t>
            </a:r>
            <a:endParaRPr lang="en-US" sz="1800" dirty="0"/>
          </a:p>
          <a:p>
            <a:r>
              <a:rPr lang="en-US" sz="1800" b="1" dirty="0">
                <a:solidFill>
                  <a:srgbClr val="273239"/>
                </a:solidFill>
                <a:ea typeface="+mn-lt"/>
                <a:cs typeface="+mn-lt"/>
              </a:rPr>
              <a:t>Ease of use:</a:t>
            </a:r>
            <a:r>
              <a:rPr lang="en-US" sz="1800" dirty="0">
                <a:solidFill>
                  <a:srgbClr val="273239"/>
                </a:solidFill>
                <a:ea typeface="+mn-lt"/>
                <a:cs typeface="+mn-lt"/>
              </a:rPr>
              <a:t> SQLite is very easy to get started with, as it requires no setup or configuration. You can simply include the library in your project and start using it.</a:t>
            </a:r>
            <a:endParaRPr lang="en-US" sz="1800" dirty="0"/>
          </a:p>
          <a:p>
            <a:r>
              <a:rPr lang="en-US" sz="1800" b="1" dirty="0">
                <a:solidFill>
                  <a:srgbClr val="273239"/>
                </a:solidFill>
                <a:ea typeface="+mn-lt"/>
                <a:cs typeface="+mn-lt"/>
              </a:rPr>
              <a:t>Embeddability: </a:t>
            </a:r>
            <a:r>
              <a:rPr lang="en-US" sz="1800" dirty="0">
                <a:solidFill>
                  <a:srgbClr val="273239"/>
                </a:solidFill>
                <a:ea typeface="+mn-lt"/>
                <a:cs typeface="+mn-lt"/>
              </a:rPr>
              <a:t>SQLite is designed to be embedded into other applications. It is a self-contained, serverless database engine, which means you can include it in your application without the need for a separate database server.</a:t>
            </a:r>
            <a:endParaRPr lang="en-US" sz="1800" dirty="0"/>
          </a:p>
          <a:p>
            <a:r>
              <a:rPr lang="en-US" sz="1800" b="1" dirty="0">
                <a:solidFill>
                  <a:srgbClr val="273239"/>
                </a:solidFill>
                <a:ea typeface="+mn-lt"/>
                <a:cs typeface="+mn-lt"/>
              </a:rPr>
              <a:t>Lightweight: </a:t>
            </a:r>
            <a:r>
              <a:rPr lang="en-US" sz="1800" dirty="0">
                <a:solidFill>
                  <a:srgbClr val="273239"/>
                </a:solidFill>
                <a:ea typeface="+mn-lt"/>
                <a:cs typeface="+mn-lt"/>
              </a:rPr>
              <a:t>SQLite is a very lightweight database engine, with a small library size (typically less than 1MB). This makes it well-suited for use in applications where the database is embedded directly into the application binary, such as mobile apps.</a:t>
            </a:r>
            <a:endParaRPr lang="en-US" sz="1800" dirty="0"/>
          </a:p>
          <a:p>
            <a:r>
              <a:rPr lang="en-US" sz="1800" b="1" dirty="0">
                <a:solidFill>
                  <a:srgbClr val="273239"/>
                </a:solidFill>
                <a:ea typeface="+mn-lt"/>
                <a:cs typeface="+mn-lt"/>
              </a:rPr>
              <a:t>Serverless: </a:t>
            </a:r>
            <a:r>
              <a:rPr lang="en-US" sz="1800" dirty="0">
                <a:solidFill>
                  <a:srgbClr val="273239"/>
                </a:solidFill>
                <a:ea typeface="+mn-lt"/>
                <a:cs typeface="+mn-lt"/>
              </a:rPr>
              <a:t>As mentioned earlier, SQLite is a serverless database engine, which means there is no need to set up and maintain a separate database server process. This makes it easy to deploy and manage, as there are no additional dependencies to worry about.</a:t>
            </a:r>
            <a:endParaRPr lang="en-US" sz="1800" dirty="0"/>
          </a:p>
          <a:p>
            <a:r>
              <a:rPr lang="en-US" sz="1800" b="1" dirty="0">
                <a:solidFill>
                  <a:srgbClr val="273239"/>
                </a:solidFill>
                <a:ea typeface="+mn-lt"/>
                <a:cs typeface="+mn-lt"/>
              </a:rPr>
              <a:t>Cross-platform: </a:t>
            </a:r>
            <a:r>
              <a:rPr lang="en-US" sz="1800" dirty="0">
                <a:solidFill>
                  <a:srgbClr val="273239"/>
                </a:solidFill>
                <a:ea typeface="+mn-lt"/>
                <a:cs typeface="+mn-lt"/>
              </a:rPr>
              <a:t>SQLite is available on many platforms, including Linux, macOS, and Windows, making it a good choice for cross-platform development.</a:t>
            </a:r>
            <a:endParaRPr lang="en-US" sz="1800" dirty="0"/>
          </a:p>
          <a:p>
            <a:endParaRPr lang="en-US" sz="1800">
              <a:solidFill>
                <a:srgbClr val="273239"/>
              </a:solidFill>
            </a:endParaRPr>
          </a:p>
          <a:p>
            <a:endParaRPr lang="en-US" sz="1800"/>
          </a:p>
        </p:txBody>
      </p:sp>
      <p:sp>
        <p:nvSpPr>
          <p:cNvPr id="4" name="Slide Number Placeholder 3">
            <a:extLst>
              <a:ext uri="{FF2B5EF4-FFF2-40B4-BE49-F238E27FC236}">
                <a16:creationId xmlns:a16="http://schemas.microsoft.com/office/drawing/2014/main" id="{C009DE27-BD48-4F15-3467-453A4B8505F8}"/>
              </a:ext>
            </a:extLst>
          </p:cNvPr>
          <p:cNvSpPr>
            <a:spLocks noGrp="1"/>
          </p:cNvSpPr>
          <p:nvPr>
            <p:ph type="sldNum" sz="quarter" idx="12"/>
          </p:nvPr>
        </p:nvSpPr>
        <p:spPr/>
        <p:txBody>
          <a:bodyPr/>
          <a:lstStyle/>
          <a:p>
            <a:fld id="{48F63A3B-78C7-47BE-AE5E-E10140E04643}" type="slidenum">
              <a:rPr lang="en-US" dirty="0"/>
              <a:t>11</a:t>
            </a:fld>
            <a:endParaRPr lang="en-US"/>
          </a:p>
        </p:txBody>
      </p:sp>
    </p:spTree>
    <p:extLst>
      <p:ext uri="{BB962C8B-B14F-4D97-AF65-F5344CB8AC3E}">
        <p14:creationId xmlns:p14="http://schemas.microsoft.com/office/powerpoint/2010/main" val="1385996289"/>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211B4-20CF-67A7-C7AD-02CFD583AF01}"/>
              </a:ext>
            </a:extLst>
          </p:cNvPr>
          <p:cNvSpPr>
            <a:spLocks noGrp="1"/>
          </p:cNvSpPr>
          <p:nvPr>
            <p:ph type="title"/>
          </p:nvPr>
        </p:nvSpPr>
        <p:spPr>
          <a:xfrm>
            <a:off x="802277" y="349477"/>
            <a:ext cx="10515600" cy="1325563"/>
          </a:xfrm>
        </p:spPr>
        <p:txBody>
          <a:bodyPr/>
          <a:lstStyle/>
          <a:p>
            <a:br>
              <a:rPr lang="en-US" sz="4000"/>
            </a:br>
            <a:r>
              <a:rPr lang="en-US" sz="4000" dirty="0"/>
              <a:t>Why SQLite?</a:t>
            </a:r>
          </a:p>
          <a:p>
            <a:endParaRPr lang="en-US" sz="4000"/>
          </a:p>
        </p:txBody>
      </p:sp>
      <p:sp>
        <p:nvSpPr>
          <p:cNvPr id="3" name="Content Placeholder 2">
            <a:extLst>
              <a:ext uri="{FF2B5EF4-FFF2-40B4-BE49-F238E27FC236}">
                <a16:creationId xmlns:a16="http://schemas.microsoft.com/office/drawing/2014/main" id="{AF5DAEC0-4247-3725-73FC-028B90DD62D1}"/>
              </a:ext>
            </a:extLst>
          </p:cNvPr>
          <p:cNvSpPr>
            <a:spLocks noGrp="1"/>
          </p:cNvSpPr>
          <p:nvPr>
            <p:ph idx="1"/>
          </p:nvPr>
        </p:nvSpPr>
        <p:spPr/>
        <p:txBody>
          <a:bodyPr vert="horz" lIns="91440" tIns="45720" rIns="91440" bIns="45720" rtlCol="0" anchor="t">
            <a:noAutofit/>
          </a:bodyPr>
          <a:lstStyle/>
          <a:p>
            <a:r>
              <a:rPr lang="en-US" sz="1800" b="1" dirty="0">
                <a:solidFill>
                  <a:srgbClr val="273239"/>
                </a:solidFill>
                <a:latin typeface="Aptos"/>
                <a:ea typeface="+mn-lt"/>
                <a:cs typeface="Arial"/>
              </a:rPr>
              <a:t>Open-source:</a:t>
            </a:r>
            <a:r>
              <a:rPr lang="en-US" sz="1800" dirty="0">
                <a:solidFill>
                  <a:srgbClr val="273239"/>
                </a:solidFill>
                <a:latin typeface="Aptos"/>
                <a:ea typeface="+mn-lt"/>
                <a:cs typeface="Arial"/>
              </a:rPr>
              <a:t> SQLite is an open-source software and does not require any license.</a:t>
            </a:r>
          </a:p>
          <a:p>
            <a:r>
              <a:rPr lang="en-US" sz="1800" b="1" dirty="0">
                <a:solidFill>
                  <a:srgbClr val="273239"/>
                </a:solidFill>
                <a:latin typeface="Aptos"/>
                <a:ea typeface="+mn-lt"/>
                <a:cs typeface="Arial"/>
              </a:rPr>
              <a:t>Standalone:</a:t>
            </a:r>
            <a:r>
              <a:rPr lang="en-US" sz="1800" dirty="0">
                <a:solidFill>
                  <a:srgbClr val="273239"/>
                </a:solidFill>
                <a:latin typeface="Aptos"/>
                <a:ea typeface="+mn-lt"/>
                <a:cs typeface="Arial"/>
              </a:rPr>
              <a:t> SQLite stores all of the data in a single file on the filesystem, which makes it easy to copy or backup the database.</a:t>
            </a:r>
            <a:endParaRPr lang="en-US" sz="1800">
              <a:solidFill>
                <a:srgbClr val="000000"/>
              </a:solidFill>
              <a:latin typeface="Aptos"/>
              <a:ea typeface="+mn-lt"/>
              <a:cs typeface="Arial"/>
            </a:endParaRPr>
          </a:p>
          <a:p>
            <a:r>
              <a:rPr lang="en-US" sz="1800" b="1" dirty="0">
                <a:solidFill>
                  <a:srgbClr val="273239"/>
                </a:solidFill>
                <a:latin typeface="Aptos"/>
                <a:ea typeface="+mn-lt"/>
                <a:cs typeface="Arial"/>
              </a:rPr>
              <a:t>High reliability: </a:t>
            </a:r>
            <a:r>
              <a:rPr lang="en-US" sz="1800" dirty="0">
                <a:solidFill>
                  <a:srgbClr val="273239"/>
                </a:solidFill>
                <a:latin typeface="Aptos"/>
                <a:ea typeface="+mn-lt"/>
                <a:cs typeface="Arial"/>
              </a:rPr>
              <a:t>SQLite has been widely tested and used in production systems for many years and has a reputation for being a reliable and robust database engine. transactions are fully ACID-compliant, allowing safe access from multiple processes or threads.</a:t>
            </a:r>
            <a:endParaRPr lang="en-US" sz="1800" dirty="0">
              <a:solidFill>
                <a:srgbClr val="000000"/>
              </a:solidFill>
              <a:latin typeface="Aptos"/>
              <a:ea typeface="+mn-lt"/>
              <a:cs typeface="Arial"/>
            </a:endParaRPr>
          </a:p>
          <a:p>
            <a:endParaRPr lang="en-US" sz="1800">
              <a:solidFill>
                <a:srgbClr val="273239"/>
              </a:solidFill>
              <a:latin typeface="Aptos"/>
              <a:ea typeface="+mn-lt"/>
              <a:cs typeface="Arial"/>
            </a:endParaRPr>
          </a:p>
          <a:p>
            <a:endParaRPr lang="en-US" sz="1800">
              <a:solidFill>
                <a:srgbClr val="000000"/>
              </a:solidFill>
              <a:ea typeface="+mn-lt"/>
              <a:cs typeface="+mn-lt"/>
            </a:endParaRPr>
          </a:p>
          <a:p>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8FFDE933-F44E-8343-CBB2-44983FC2ABBC}"/>
              </a:ext>
            </a:extLst>
          </p:cNvPr>
          <p:cNvSpPr>
            <a:spLocks noGrp="1"/>
          </p:cNvSpPr>
          <p:nvPr>
            <p:ph type="sldNum" sz="quarter" idx="12"/>
          </p:nvPr>
        </p:nvSpPr>
        <p:spPr/>
        <p:txBody>
          <a:bodyPr/>
          <a:lstStyle/>
          <a:p>
            <a:fld id="{48F63A3B-78C7-47BE-AE5E-E10140E04643}" type="slidenum">
              <a:rPr lang="en-US" dirty="0"/>
              <a:t>12</a:t>
            </a:fld>
            <a:endParaRPr lang="en-US"/>
          </a:p>
        </p:txBody>
      </p:sp>
    </p:spTree>
    <p:extLst>
      <p:ext uri="{BB962C8B-B14F-4D97-AF65-F5344CB8AC3E}">
        <p14:creationId xmlns:p14="http://schemas.microsoft.com/office/powerpoint/2010/main" val="1509868201"/>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52DCD-7F7C-CC7E-E433-1C411152BC72}"/>
              </a:ext>
            </a:extLst>
          </p:cNvPr>
          <p:cNvSpPr>
            <a:spLocks noGrp="1"/>
          </p:cNvSpPr>
          <p:nvPr>
            <p:ph type="title"/>
          </p:nvPr>
        </p:nvSpPr>
        <p:spPr/>
        <p:txBody>
          <a:bodyPr>
            <a:normAutofit/>
          </a:bodyPr>
          <a:lstStyle/>
          <a:p>
            <a:r>
              <a:rPr lang="en-US" sz="4000" dirty="0">
                <a:ea typeface="+mj-lt"/>
                <a:cs typeface="+mj-lt"/>
              </a:rPr>
              <a:t>Uses for/</a:t>
            </a:r>
            <a:r>
              <a:rPr lang="en-US" dirty="0">
                <a:ea typeface="+mj-lt"/>
                <a:cs typeface="+mj-lt"/>
              </a:rPr>
              <a:t>Applications of</a:t>
            </a:r>
            <a:r>
              <a:rPr lang="en-US" sz="4000" dirty="0">
                <a:ea typeface="+mj-lt"/>
                <a:cs typeface="+mj-lt"/>
              </a:rPr>
              <a:t> SQLite</a:t>
            </a:r>
            <a:endParaRPr lang="en-US" sz="4000" dirty="0"/>
          </a:p>
        </p:txBody>
      </p:sp>
      <p:sp>
        <p:nvSpPr>
          <p:cNvPr id="3" name="Content Placeholder 2">
            <a:extLst>
              <a:ext uri="{FF2B5EF4-FFF2-40B4-BE49-F238E27FC236}">
                <a16:creationId xmlns:a16="http://schemas.microsoft.com/office/drawing/2014/main" id="{3BA2D781-1516-4358-85F7-0CE8B239F70E}"/>
              </a:ext>
            </a:extLst>
          </p:cNvPr>
          <p:cNvSpPr>
            <a:spLocks noGrp="1"/>
          </p:cNvSpPr>
          <p:nvPr>
            <p:ph idx="1"/>
          </p:nvPr>
        </p:nvSpPr>
        <p:spPr>
          <a:xfrm>
            <a:off x="838200" y="1491598"/>
            <a:ext cx="10515600" cy="4685365"/>
          </a:xfrm>
        </p:spPr>
        <p:txBody>
          <a:bodyPr vert="horz" lIns="91440" tIns="45720" rIns="91440" bIns="45720" rtlCol="0" anchor="t">
            <a:noAutofit/>
          </a:bodyPr>
          <a:lstStyle/>
          <a:p>
            <a:pPr marL="0" indent="0">
              <a:buNone/>
            </a:pPr>
            <a:r>
              <a:rPr lang="en-US" sz="1800" dirty="0">
                <a:solidFill>
                  <a:srgbClr val="000000"/>
                </a:solidFill>
                <a:ea typeface="+mn-lt"/>
                <a:cs typeface="+mn-lt"/>
              </a:rPr>
              <a:t>Even considering the drawbacks, the benefits of being able to access and manipulate a database without involving a server application are huge. </a:t>
            </a:r>
            <a:endParaRPr lang="en-US" sz="1800" dirty="0"/>
          </a:p>
          <a:p>
            <a:pPr marL="0" indent="0">
              <a:buNone/>
            </a:pPr>
            <a:r>
              <a:rPr lang="en-US" sz="1800" dirty="0">
                <a:solidFill>
                  <a:srgbClr val="000000"/>
                </a:solidFill>
                <a:ea typeface="+mn-lt"/>
                <a:cs typeface="+mn-lt"/>
              </a:rPr>
              <a:t>SQLite is used worldwide for testing, development, and in any other scenario where it makes sense for the database to be on the same disk as the application code. </a:t>
            </a:r>
            <a:endParaRPr lang="en-US" sz="1800" dirty="0"/>
          </a:p>
          <a:p>
            <a:pPr>
              <a:buNone/>
            </a:pPr>
            <a:r>
              <a:rPr lang="en-US" sz="1800" dirty="0">
                <a:ea typeface="+mn-lt"/>
                <a:cs typeface="+mn-lt"/>
              </a:rPr>
              <a:t>When to Use SQLite:</a:t>
            </a:r>
            <a:endParaRPr lang="en-US" sz="1800" dirty="0"/>
          </a:p>
          <a:p>
            <a:pPr>
              <a:buFont typeface="Arial"/>
              <a:buChar char="•"/>
            </a:pPr>
            <a:r>
              <a:rPr lang="en-US" sz="1800" dirty="0">
                <a:ea typeface="+mn-lt"/>
                <a:cs typeface="+mn-lt"/>
              </a:rPr>
              <a:t>Due to its small code print and efficient usage of memory, </a:t>
            </a:r>
            <a:r>
              <a:rPr lang="en-US" sz="1800" dirty="0">
                <a:latin typeface="Aptos"/>
                <a:cs typeface="Arial"/>
              </a:rPr>
              <a:t>SQLite is used to develop embedded software for devices like cell phones,</a:t>
            </a:r>
            <a:r>
              <a:rPr lang="en-US" sz="1800" dirty="0">
                <a:ea typeface="+mn-lt"/>
                <a:cs typeface="+mn-lt"/>
              </a:rPr>
              <a:t> TVs,</a:t>
            </a:r>
            <a:r>
              <a:rPr lang="en-US" sz="1800" dirty="0">
                <a:latin typeface="Aptos"/>
                <a:cs typeface="Arial"/>
              </a:rPr>
              <a:t> cameras </a:t>
            </a:r>
            <a:r>
              <a:rPr lang="en-US" sz="1800" dirty="0">
                <a:ea typeface="+mn-lt"/>
                <a:cs typeface="+mn-lt"/>
              </a:rPr>
              <a:t>and other electronic gadgets.</a:t>
            </a:r>
          </a:p>
          <a:p>
            <a:pPr>
              <a:buFont typeface="Arial"/>
              <a:buChar char="•"/>
            </a:pPr>
            <a:r>
              <a:rPr lang="en-US" sz="1800" dirty="0">
                <a:latin typeface="Aptos"/>
                <a:cs typeface="Arial"/>
              </a:rPr>
              <a:t>It can manage low to medium-traffic HTTP requests.</a:t>
            </a:r>
          </a:p>
          <a:p>
            <a:pPr>
              <a:buFont typeface="Arial"/>
              <a:buChar char="•"/>
            </a:pPr>
            <a:r>
              <a:rPr lang="en-US" sz="1800" dirty="0">
                <a:latin typeface="Aptos"/>
                <a:cs typeface="Arial"/>
              </a:rPr>
              <a:t>SQLite can change files into smaller size archives with lesser metadata.</a:t>
            </a:r>
          </a:p>
          <a:p>
            <a:pPr>
              <a:buFont typeface="Arial"/>
              <a:buChar char="•"/>
            </a:pPr>
            <a:r>
              <a:rPr lang="en-US" sz="1800" dirty="0">
                <a:latin typeface="Aptos"/>
                <a:cs typeface="Arial"/>
              </a:rPr>
              <a:t>SQLite is used as a temporary dataset to get processed with some data within an application.</a:t>
            </a:r>
          </a:p>
          <a:p>
            <a:pPr>
              <a:buFont typeface="Arial"/>
              <a:buChar char="•"/>
            </a:pPr>
            <a:r>
              <a:rPr lang="en-US" sz="1800" dirty="0">
                <a:latin typeface="Aptos"/>
                <a:cs typeface="Arial"/>
              </a:rPr>
              <a:t>Beginners use SQLite for learning and training purposes, as it requires no installation and configuration.</a:t>
            </a:r>
            <a:endParaRPr lang="en-US" sz="1800" dirty="0">
              <a:latin typeface="Aptos"/>
            </a:endParaRPr>
          </a:p>
          <a:p>
            <a:pPr>
              <a:buFont typeface="Arial"/>
            </a:pPr>
            <a:r>
              <a:rPr lang="en-US" sz="1800" dirty="0">
                <a:ea typeface="+mn-lt"/>
                <a:cs typeface="+mn-lt"/>
              </a:rPr>
              <a:t>As it has no complication for configuration and easily stores file in an ordinary disk file, so it can be used as a database for small to medium sized websites.</a:t>
            </a:r>
          </a:p>
          <a:p>
            <a:pPr>
              <a:buFont typeface="Arial"/>
            </a:pPr>
            <a:r>
              <a:rPr lang="en-US" sz="1800" dirty="0">
                <a:ea typeface="+mn-lt"/>
                <a:cs typeface="+mn-lt"/>
              </a:rPr>
              <a:t>It is faster and accessible through a wide variety of third-party tools, so it has great applications in different software platforms.</a:t>
            </a:r>
            <a:endParaRPr lang="en-US" sz="1800" dirty="0"/>
          </a:p>
          <a:p>
            <a:endParaRPr lang="en-US" sz="1800"/>
          </a:p>
        </p:txBody>
      </p:sp>
      <p:sp>
        <p:nvSpPr>
          <p:cNvPr id="4" name="Slide Number Placeholder 3">
            <a:extLst>
              <a:ext uri="{FF2B5EF4-FFF2-40B4-BE49-F238E27FC236}">
                <a16:creationId xmlns:a16="http://schemas.microsoft.com/office/drawing/2014/main" id="{BBDC662C-E66C-932A-E57B-03D0DF45C96D}"/>
              </a:ext>
            </a:extLst>
          </p:cNvPr>
          <p:cNvSpPr>
            <a:spLocks noGrp="1"/>
          </p:cNvSpPr>
          <p:nvPr>
            <p:ph type="sldNum" sz="quarter" idx="12"/>
          </p:nvPr>
        </p:nvSpPr>
        <p:spPr/>
        <p:txBody>
          <a:bodyPr/>
          <a:lstStyle/>
          <a:p>
            <a:fld id="{48F63A3B-78C7-47BE-AE5E-E10140E04643}" type="slidenum">
              <a:rPr lang="en-US" dirty="0"/>
              <a:t>13</a:t>
            </a:fld>
            <a:endParaRPr lang="en-US"/>
          </a:p>
        </p:txBody>
      </p:sp>
    </p:spTree>
    <p:extLst>
      <p:ext uri="{BB962C8B-B14F-4D97-AF65-F5344CB8AC3E}">
        <p14:creationId xmlns:p14="http://schemas.microsoft.com/office/powerpoint/2010/main" val="1296730591"/>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93470-AE0C-3189-B274-3C27BEE4690F}"/>
              </a:ext>
            </a:extLst>
          </p:cNvPr>
          <p:cNvSpPr>
            <a:spLocks noGrp="1"/>
          </p:cNvSpPr>
          <p:nvPr>
            <p:ph type="title"/>
          </p:nvPr>
        </p:nvSpPr>
        <p:spPr/>
        <p:txBody>
          <a:bodyPr>
            <a:normAutofit/>
          </a:bodyPr>
          <a:lstStyle/>
          <a:p>
            <a:r>
              <a:rPr lang="en-US" sz="4000" dirty="0">
                <a:solidFill>
                  <a:srgbClr val="000000"/>
                </a:solidFill>
                <a:latin typeface="Aptos Display"/>
                <a:ea typeface="Verdana"/>
                <a:cs typeface="+mj-lt"/>
              </a:rPr>
              <a:t>Well-Known Users of</a:t>
            </a:r>
            <a:r>
              <a:rPr lang="en-US" sz="4000" dirty="0">
                <a:solidFill>
                  <a:srgbClr val="000000"/>
                </a:solidFill>
                <a:ea typeface="+mj-lt"/>
                <a:cs typeface="+mj-lt"/>
              </a:rPr>
              <a:t> SQLite </a:t>
            </a:r>
            <a:endParaRPr lang="en-US" sz="4000" dirty="0">
              <a:ea typeface="+mj-lt"/>
              <a:cs typeface="+mj-lt"/>
            </a:endParaRPr>
          </a:p>
        </p:txBody>
      </p:sp>
      <p:sp>
        <p:nvSpPr>
          <p:cNvPr id="3" name="Content Placeholder 2">
            <a:extLst>
              <a:ext uri="{FF2B5EF4-FFF2-40B4-BE49-F238E27FC236}">
                <a16:creationId xmlns:a16="http://schemas.microsoft.com/office/drawing/2014/main" id="{E6DEFFB0-369D-7316-EAC3-6F67DABEB6E6}"/>
              </a:ext>
            </a:extLst>
          </p:cNvPr>
          <p:cNvSpPr>
            <a:spLocks noGrp="1"/>
          </p:cNvSpPr>
          <p:nvPr>
            <p:ph idx="1"/>
          </p:nvPr>
        </p:nvSpPr>
        <p:spPr>
          <a:xfrm>
            <a:off x="792892" y="1726943"/>
            <a:ext cx="10515600" cy="4351338"/>
          </a:xfrm>
        </p:spPr>
        <p:txBody>
          <a:bodyPr vert="horz" lIns="91440" tIns="45720" rIns="91440" bIns="45720" rtlCol="0" anchor="t">
            <a:normAutofit/>
          </a:bodyPr>
          <a:lstStyle/>
          <a:p>
            <a:pPr marL="0" indent="0">
              <a:buNone/>
            </a:pPr>
            <a:r>
              <a:rPr lang="en-US" sz="2200" dirty="0">
                <a:solidFill>
                  <a:srgbClr val="000000"/>
                </a:solidFill>
                <a:ea typeface="+mn-lt"/>
                <a:cs typeface="+mn-lt"/>
              </a:rPr>
              <a:t>• Google Chrome </a:t>
            </a:r>
            <a:endParaRPr lang="en-US" dirty="0">
              <a:solidFill>
                <a:srgbClr val="000000"/>
              </a:solidFill>
              <a:ea typeface="+mn-lt"/>
              <a:cs typeface="+mn-lt"/>
            </a:endParaRPr>
          </a:p>
          <a:p>
            <a:pPr marL="0" indent="0">
              <a:buNone/>
            </a:pPr>
            <a:r>
              <a:rPr lang="en-US" sz="2200" dirty="0">
                <a:solidFill>
                  <a:srgbClr val="000000"/>
                </a:solidFill>
                <a:ea typeface="+mn-lt"/>
                <a:cs typeface="+mn-lt"/>
              </a:rPr>
              <a:t>• Mozilla Firefox </a:t>
            </a:r>
            <a:endParaRPr lang="en-US" dirty="0">
              <a:solidFill>
                <a:srgbClr val="000000"/>
              </a:solidFill>
              <a:ea typeface="+mn-lt"/>
              <a:cs typeface="+mn-lt"/>
            </a:endParaRPr>
          </a:p>
          <a:p>
            <a:pPr marL="0" indent="0">
              <a:buNone/>
            </a:pPr>
            <a:r>
              <a:rPr lang="en-US" sz="2200" dirty="0">
                <a:solidFill>
                  <a:srgbClr val="000000"/>
                </a:solidFill>
                <a:ea typeface="+mn-lt"/>
                <a:cs typeface="+mn-lt"/>
              </a:rPr>
              <a:t>• Bosch </a:t>
            </a:r>
            <a:r>
              <a:rPr lang="en-US" sz="2200" dirty="0">
                <a:solidFill>
                  <a:srgbClr val="000000"/>
                </a:solidFill>
                <a:latin typeface="Aptos"/>
                <a:ea typeface="Verdana"/>
                <a:cs typeface="+mn-lt"/>
              </a:rPr>
              <a:t>multimedia systems</a:t>
            </a:r>
            <a:endParaRPr lang="en-US" dirty="0">
              <a:solidFill>
                <a:srgbClr val="000000"/>
              </a:solidFill>
              <a:latin typeface="Aptos"/>
              <a:ea typeface="+mn-lt"/>
              <a:cs typeface="+mn-lt"/>
            </a:endParaRPr>
          </a:p>
          <a:p>
            <a:pPr marL="0" indent="0">
              <a:buNone/>
            </a:pPr>
            <a:r>
              <a:rPr lang="en-US" sz="2200" dirty="0">
                <a:solidFill>
                  <a:srgbClr val="000000"/>
                </a:solidFill>
                <a:ea typeface="+mn-lt"/>
                <a:cs typeface="+mn-lt"/>
              </a:rPr>
              <a:t>• Adobe</a:t>
            </a:r>
            <a:endParaRPr lang="en-US" dirty="0">
              <a:solidFill>
                <a:srgbClr val="000000"/>
              </a:solidFill>
              <a:ea typeface="+mn-lt"/>
              <a:cs typeface="+mn-lt"/>
            </a:endParaRPr>
          </a:p>
          <a:p>
            <a:pPr marL="0" indent="0">
              <a:buNone/>
            </a:pPr>
            <a:r>
              <a:rPr lang="en-US" sz="2200" dirty="0">
                <a:solidFill>
                  <a:srgbClr val="000000"/>
                </a:solidFill>
                <a:ea typeface="+mn-lt"/>
                <a:cs typeface="+mn-lt"/>
              </a:rPr>
              <a:t>• Airbus</a:t>
            </a:r>
          </a:p>
          <a:p>
            <a:pPr marL="0" indent="0">
              <a:buNone/>
            </a:pPr>
            <a:r>
              <a:rPr lang="en-US" sz="2200" dirty="0">
                <a:solidFill>
                  <a:srgbClr val="000000"/>
                </a:solidFill>
                <a:ea typeface="+mn-lt"/>
                <a:cs typeface="+mn-lt"/>
              </a:rPr>
              <a:t>• VENTANA SP400</a:t>
            </a:r>
            <a:endParaRPr lang="en-US" dirty="0">
              <a:ea typeface="+mn-lt"/>
              <a:cs typeface="+mn-lt"/>
            </a:endParaRPr>
          </a:p>
          <a:p>
            <a:pPr marL="0" indent="0">
              <a:buNone/>
            </a:pPr>
            <a:endParaRPr lang="en-US" sz="2200">
              <a:solidFill>
                <a:srgbClr val="000000"/>
              </a:solidFill>
              <a:ea typeface="+mn-lt"/>
              <a:cs typeface="+mn-lt"/>
            </a:endParaRPr>
          </a:p>
          <a:p>
            <a:pPr marL="0" indent="0">
              <a:buNone/>
            </a:pPr>
            <a:r>
              <a:rPr lang="en-US" sz="2200" dirty="0">
                <a:solidFill>
                  <a:srgbClr val="000000"/>
                </a:solidFill>
                <a:ea typeface="+mn-lt"/>
                <a:cs typeface="+mn-lt"/>
              </a:rPr>
              <a:t>List of the well-known user: </a:t>
            </a:r>
            <a:r>
              <a:rPr lang="en-US" sz="2200" dirty="0">
                <a:solidFill>
                  <a:srgbClr val="000000"/>
                </a:solidFill>
                <a:ea typeface="+mn-lt"/>
                <a:cs typeface="+mn-lt"/>
                <a:hlinkClick r:id="" action="ppaction://noaction">
                  <a:extLst>
                    <a:ext uri="{A12FA001-AC4F-418D-AE19-62706E023703}">
                      <ahyp:hlinkClr xmlns:ahyp="http://schemas.microsoft.com/office/drawing/2018/hyperlinkcolor" val="tx"/>
                    </a:ext>
                  </a:extLst>
                </a:hlinkClick>
              </a:rPr>
              <a:t>https://www.sqlite.org/famous.html</a:t>
            </a:r>
            <a:endParaRPr lang="en-US" dirty="0">
              <a:solidFill>
                <a:srgbClr val="000000"/>
              </a:solidFill>
              <a:ea typeface="+mn-lt"/>
              <a:cs typeface="+mn-lt"/>
              <a:hlinkClick r:id="" action="ppaction://noaction">
                <a:extLst>
                  <a:ext uri="{A12FA001-AC4F-418D-AE19-62706E023703}">
                    <ahyp:hlinkClr xmlns:ahyp="http://schemas.microsoft.com/office/drawing/2018/hyperlinkcolor" val="tx"/>
                  </a:ext>
                </a:extLst>
              </a:hlinkClick>
            </a:endParaRPr>
          </a:p>
          <a:p>
            <a:pPr marL="0" indent="0">
              <a:buNone/>
            </a:pPr>
            <a:endParaRPr lang="en-US" sz="2200"/>
          </a:p>
        </p:txBody>
      </p:sp>
      <p:sp>
        <p:nvSpPr>
          <p:cNvPr id="4" name="Slide Number Placeholder 3">
            <a:extLst>
              <a:ext uri="{FF2B5EF4-FFF2-40B4-BE49-F238E27FC236}">
                <a16:creationId xmlns:a16="http://schemas.microsoft.com/office/drawing/2014/main" id="{52FA0C63-B47A-4140-BD7C-8C536391A51A}"/>
              </a:ext>
            </a:extLst>
          </p:cNvPr>
          <p:cNvSpPr>
            <a:spLocks noGrp="1"/>
          </p:cNvSpPr>
          <p:nvPr>
            <p:ph type="sldNum" sz="quarter" idx="12"/>
          </p:nvPr>
        </p:nvSpPr>
        <p:spPr/>
        <p:txBody>
          <a:bodyPr/>
          <a:lstStyle/>
          <a:p>
            <a:fld id="{48F63A3B-78C7-47BE-AE5E-E10140E04643}" type="slidenum">
              <a:rPr lang="en-US" dirty="0"/>
              <a:t>14</a:t>
            </a:fld>
            <a:endParaRPr lang="en-US"/>
          </a:p>
        </p:txBody>
      </p:sp>
    </p:spTree>
    <p:extLst>
      <p:ext uri="{BB962C8B-B14F-4D97-AF65-F5344CB8AC3E}">
        <p14:creationId xmlns:p14="http://schemas.microsoft.com/office/powerpoint/2010/main" val="1625904927"/>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5238-E16F-F4EB-ECA4-1FD5DA17F092}"/>
              </a:ext>
            </a:extLst>
          </p:cNvPr>
          <p:cNvSpPr>
            <a:spLocks noGrp="1"/>
          </p:cNvSpPr>
          <p:nvPr>
            <p:ph type="title"/>
          </p:nvPr>
        </p:nvSpPr>
        <p:spPr/>
        <p:txBody>
          <a:bodyPr/>
          <a:lstStyle/>
          <a:p>
            <a:r>
              <a:rPr lang="en-US"/>
              <a:t>Sources:</a:t>
            </a:r>
          </a:p>
        </p:txBody>
      </p:sp>
      <p:sp>
        <p:nvSpPr>
          <p:cNvPr id="3" name="Content Placeholder 2">
            <a:extLst>
              <a:ext uri="{FF2B5EF4-FFF2-40B4-BE49-F238E27FC236}">
                <a16:creationId xmlns:a16="http://schemas.microsoft.com/office/drawing/2014/main" id="{06161119-FDD4-D991-A857-F5385D3595E9}"/>
              </a:ext>
            </a:extLst>
          </p:cNvPr>
          <p:cNvSpPr>
            <a:spLocks noGrp="1"/>
          </p:cNvSpPr>
          <p:nvPr>
            <p:ph idx="1"/>
          </p:nvPr>
        </p:nvSpPr>
        <p:spPr>
          <a:xfrm>
            <a:off x="838200" y="1693804"/>
            <a:ext cx="10515600" cy="4764995"/>
          </a:xfrm>
        </p:spPr>
        <p:txBody>
          <a:bodyPr vert="horz" lIns="91440" tIns="45720" rIns="91440" bIns="45720" rtlCol="0" anchor="t">
            <a:normAutofit/>
          </a:bodyPr>
          <a:lstStyle/>
          <a:p>
            <a:r>
              <a:rPr lang="en-US" sz="1800">
                <a:ea typeface="+mn-lt"/>
                <a:cs typeface="+mn-lt"/>
                <a:hlinkClick r:id="rId2"/>
              </a:rPr>
              <a:t>https://www.sqlite.org/</a:t>
            </a:r>
            <a:endParaRPr lang="en-US" sz="1800">
              <a:latin typeface="Aptos"/>
              <a:ea typeface="+mn-lt"/>
              <a:cs typeface="Arial"/>
            </a:endParaRPr>
          </a:p>
          <a:p>
            <a:r>
              <a:rPr lang="en-US" sz="1800">
                <a:latin typeface="Aptos"/>
                <a:ea typeface="+mn-lt"/>
                <a:cs typeface="Arial"/>
                <a:hlinkClick r:id="rId3"/>
              </a:rPr>
              <a:t>https://en.wikipedia.org/wiki/SQLite</a:t>
            </a:r>
            <a:endParaRPr lang="en-US" sz="1800">
              <a:latin typeface="Aptos"/>
              <a:ea typeface="+mn-lt"/>
              <a:cs typeface="Arial"/>
            </a:endParaRPr>
          </a:p>
          <a:p>
            <a:r>
              <a:rPr lang="en-US" sz="1800">
                <a:latin typeface="Aptos"/>
                <a:ea typeface="+mn-lt"/>
                <a:cs typeface="Arial"/>
                <a:hlinkClick r:id="rId4"/>
              </a:rPr>
              <a:t>https://www.codecademy.com/article/what-is-sqlite</a:t>
            </a:r>
            <a:endParaRPr lang="en-US" sz="1800">
              <a:latin typeface="Aptos"/>
              <a:ea typeface="+mn-lt"/>
              <a:cs typeface="Arial"/>
            </a:endParaRPr>
          </a:p>
          <a:p>
            <a:r>
              <a:rPr lang="en-US" sz="1800">
                <a:latin typeface="Aptos"/>
                <a:ea typeface="+mn-lt"/>
                <a:cs typeface="Arial"/>
                <a:hlinkClick r:id="rId5"/>
              </a:rPr>
              <a:t>https://www.geeksforgeeks.org/introduction-to-sqlite/</a:t>
            </a:r>
            <a:endParaRPr lang="en-US" sz="1800">
              <a:latin typeface="Aptos"/>
              <a:ea typeface="+mn-lt"/>
              <a:cs typeface="Arial"/>
            </a:endParaRPr>
          </a:p>
          <a:p>
            <a:r>
              <a:rPr lang="en-US" sz="1800">
                <a:latin typeface="Aptos"/>
                <a:ea typeface="+mn-lt"/>
                <a:cs typeface="Arial"/>
                <a:hlinkClick r:id="rId6"/>
              </a:rPr>
              <a:t>https://www.tutorialspoint.com/sqlite/sqlite_overview.htm</a:t>
            </a:r>
            <a:endParaRPr lang="en-US" sz="1800">
              <a:latin typeface="Aptos"/>
              <a:ea typeface="+mn-lt"/>
              <a:cs typeface="Arial"/>
            </a:endParaRPr>
          </a:p>
          <a:p>
            <a:r>
              <a:rPr lang="en-US" sz="1800">
                <a:latin typeface="Aptos" panose="020B0004020202020204"/>
                <a:ea typeface="+mn-lt"/>
                <a:cs typeface="Arial"/>
                <a:hlinkClick r:id="rId7"/>
              </a:rPr>
              <a:t>https://www.</a:t>
            </a:r>
            <a:r>
              <a:rPr lang="en-US" sz="1800">
                <a:ea typeface="+mn-lt"/>
                <a:cs typeface="+mn-lt"/>
                <a:hlinkClick r:id="rId7"/>
              </a:rPr>
              <a:t>slideshare.net/emanuelebartolesi/sqlite-overview</a:t>
            </a:r>
            <a:endParaRPr lang="en-US" sz="1800">
              <a:ea typeface="+mn-lt"/>
              <a:cs typeface="+mn-lt"/>
            </a:endParaRPr>
          </a:p>
          <a:p>
            <a:r>
              <a:rPr lang="en-US" sz="1800">
                <a:ea typeface="+mn-lt"/>
                <a:cs typeface="+mn-lt"/>
                <a:hlinkClick r:id="rId8"/>
              </a:rPr>
              <a:t>https://slideplayer.com/slide/12248075/</a:t>
            </a:r>
            <a:endParaRPr lang="en-US" sz="1800">
              <a:ea typeface="+mn-lt"/>
              <a:cs typeface="+mn-lt"/>
            </a:endParaRPr>
          </a:p>
          <a:p>
            <a:r>
              <a:rPr lang="en-US" sz="1800">
                <a:ea typeface="+mn-lt"/>
                <a:cs typeface="+mn-lt"/>
                <a:hlinkClick r:id="rId9"/>
              </a:rPr>
              <a:t>https://www.slideshare.net/slideshow/sqlite-44918931/44918931</a:t>
            </a:r>
            <a:endParaRPr lang="en-US" sz="1800">
              <a:ea typeface="+mn-lt"/>
              <a:cs typeface="+mn-lt"/>
            </a:endParaRPr>
          </a:p>
          <a:p>
            <a:r>
              <a:rPr lang="en-US" sz="1800">
                <a:ea typeface="+mn-lt"/>
                <a:cs typeface="+mn-lt"/>
                <a:hlinkClick r:id="rId10"/>
              </a:rPr>
              <a:t>https://www.slideshare.net/MaheshSharma38/a-brief-introduction-to-sqlite-ppt</a:t>
            </a:r>
            <a:endParaRPr lang="en-US" sz="1800">
              <a:ea typeface="+mn-lt"/>
              <a:cs typeface="+mn-lt"/>
            </a:endParaRPr>
          </a:p>
          <a:p>
            <a:r>
              <a:rPr lang="en-US" sz="1800">
                <a:ea typeface="+mn-lt"/>
                <a:cs typeface="+mn-lt"/>
                <a:hlinkClick r:id="rId11"/>
              </a:rPr>
              <a:t>https://www.sqlitetutorial.net/</a:t>
            </a:r>
            <a:endParaRPr lang="en-US" sz="1800">
              <a:ea typeface="+mn-lt"/>
              <a:cs typeface="+mn-lt"/>
            </a:endParaRPr>
          </a:p>
          <a:p>
            <a:r>
              <a:rPr lang="en-US" sz="1800">
                <a:ea typeface="+mn-lt"/>
                <a:cs typeface="+mn-lt"/>
                <a:hlinkClick r:id="rId12"/>
              </a:rPr>
              <a:t>https://www.simplilearn.com/tutorials/sql-tutorial/what-is-sqlite</a:t>
            </a:r>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a:p>
            <a:endParaRPr lang="en-US" sz="1800">
              <a:ea typeface="+mn-lt"/>
              <a:cs typeface="+mn-lt"/>
            </a:endParaRPr>
          </a:p>
        </p:txBody>
      </p:sp>
      <p:sp>
        <p:nvSpPr>
          <p:cNvPr id="4" name="Slide Number Placeholder 3">
            <a:extLst>
              <a:ext uri="{FF2B5EF4-FFF2-40B4-BE49-F238E27FC236}">
                <a16:creationId xmlns:a16="http://schemas.microsoft.com/office/drawing/2014/main" id="{AE8056B7-17CB-43B4-56E2-0BC169DAACAD}"/>
              </a:ext>
            </a:extLst>
          </p:cNvPr>
          <p:cNvSpPr>
            <a:spLocks noGrp="1"/>
          </p:cNvSpPr>
          <p:nvPr>
            <p:ph type="sldNum" sz="quarter" idx="12"/>
          </p:nvPr>
        </p:nvSpPr>
        <p:spPr/>
        <p:txBody>
          <a:bodyPr/>
          <a:lstStyle/>
          <a:p>
            <a:fld id="{48F63A3B-78C7-47BE-AE5E-E10140E04643}" type="slidenum">
              <a:rPr lang="en-US" dirty="0"/>
              <a:t>15</a:t>
            </a:fld>
            <a:endParaRPr lang="en-US"/>
          </a:p>
        </p:txBody>
      </p:sp>
    </p:spTree>
    <p:extLst>
      <p:ext uri="{BB962C8B-B14F-4D97-AF65-F5344CB8AC3E}">
        <p14:creationId xmlns:p14="http://schemas.microsoft.com/office/powerpoint/2010/main" val="2627841056"/>
      </p:ext>
    </p:extLst>
  </p:cSld>
  <p:clrMapOvr>
    <a:masterClrMapping/>
  </p:clrMapOvr>
  <mc:AlternateContent xmlns:mc="http://schemas.openxmlformats.org/markup-compatibility/2006">
    <mc:Choice xmlns:p14="http://schemas.microsoft.com/office/powerpoint/2010/main" Requires="p14">
      <p:transition spd="slow">
        <p14:doors dir="vert"/>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97E0A228-C590-4D20-B05F-A6BF04A05448}"/>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SQLite </vt:lpstr>
      <vt:lpstr>What is SQLite</vt:lpstr>
      <vt:lpstr>History</vt:lpstr>
      <vt:lpstr> SQLite History </vt:lpstr>
      <vt:lpstr>Features of SQLite:</vt:lpstr>
      <vt:lpstr> SQLite Datatypes </vt:lpstr>
      <vt:lpstr>Drawbacks to SQLite</vt:lpstr>
      <vt:lpstr> SQLite Limitations </vt:lpstr>
      <vt:lpstr>SQLite Limitations</vt:lpstr>
      <vt:lpstr>       DB Browser for SQLite  </vt:lpstr>
      <vt:lpstr> Why SQLite? </vt:lpstr>
      <vt:lpstr> Why SQLite? </vt:lpstr>
      <vt:lpstr>Uses for/Applications of SQLite</vt:lpstr>
      <vt:lpstr>Well-Known Users of SQLite </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246</cp:revision>
  <dcterms:created xsi:type="dcterms:W3CDTF">2024-04-01T12:30:11Z</dcterms:created>
  <dcterms:modified xsi:type="dcterms:W3CDTF">2024-04-08T15:27:17Z</dcterms:modified>
</cp:coreProperties>
</file>